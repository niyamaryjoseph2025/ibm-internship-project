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0" d="100"/>
          <a:sy n="80" d="100"/>
        </p:scale>
        <p:origin x="528" y="2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0349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2">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5BD7DBD-77E7-B9E8-0202-40B9525D9B8C}"/>
              </a:ext>
            </a:extLst>
          </p:cNvPr>
          <p:cNvPicPr>
            <a:picLocks noChangeAspect="1"/>
          </p:cNvPicPr>
          <p:nvPr userDrawn="1"/>
        </p:nvPicPr>
        <p:blipFill>
          <a:blip r:embed="rId2"/>
          <a:stretch>
            <a:fillRect/>
          </a:stretch>
        </p:blipFill>
        <p:spPr>
          <a:xfrm>
            <a:off x="748963" y="298924"/>
            <a:ext cx="1275566" cy="496923"/>
          </a:xfrm>
          <a:prstGeom prst="rect">
            <a:avLst/>
          </a:prstGeom>
        </p:spPr>
      </p:pic>
      <p:pic>
        <p:nvPicPr>
          <p:cNvPr id="7" name="Picture 6">
            <a:extLst>
              <a:ext uri="{FF2B5EF4-FFF2-40B4-BE49-F238E27FC236}">
                <a16:creationId xmlns:a16="http://schemas.microsoft.com/office/drawing/2014/main" id="{6A9D0E7C-0D7D-E71B-B035-46A1C34AF0FC}"/>
              </a:ext>
            </a:extLst>
          </p:cNvPr>
          <p:cNvPicPr>
            <a:picLocks noChangeAspect="1"/>
          </p:cNvPicPr>
          <p:nvPr userDrawn="1"/>
        </p:nvPicPr>
        <p:blipFill>
          <a:blip r:embed="rId3"/>
          <a:stretch>
            <a:fillRect/>
          </a:stretch>
        </p:blipFill>
        <p:spPr>
          <a:xfrm>
            <a:off x="10864976" y="140539"/>
            <a:ext cx="919222" cy="813692"/>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public.tableau.com/views/Indian_Startup_Funding_Dashboard/Dashboard2?:language=en-US&amp;:sid=&amp;:redirect=auth&amp;:display_count=n&amp;:origin=viz_share_link"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93F"/>
        </a:solidFill>
        <a:effectLst/>
      </p:bgPr>
    </p:bg>
    <p:spTree>
      <p:nvGrpSpPr>
        <p:cNvPr id="1" name=""/>
        <p:cNvGrpSpPr/>
        <p:nvPr/>
      </p:nvGrpSpPr>
      <p:grpSpPr>
        <a:xfrm>
          <a:off x="0" y="0"/>
          <a:ext cx="0" cy="0"/>
          <a:chOff x="0" y="0"/>
          <a:chExt cx="0" cy="0"/>
        </a:xfrm>
      </p:grpSpPr>
      <p:sp>
        <p:nvSpPr>
          <p:cNvPr id="2" name="Shape 0"/>
          <p:cNvSpPr/>
          <p:nvPr/>
        </p:nvSpPr>
        <p:spPr>
          <a:xfrm>
            <a:off x="122072" y="1891624"/>
            <a:ext cx="12191695" cy="6458032"/>
          </a:xfrm>
          <a:prstGeom prst="rect">
            <a:avLst/>
          </a:prstGeom>
          <a:solidFill>
            <a:srgbClr val="12193F"/>
          </a:solidFill>
          <a:ln/>
        </p:spPr>
        <p:txBody>
          <a:bodyPr/>
          <a:lstStyle/>
          <a:p>
            <a:endParaRPr lang="en-IN" dirty="0"/>
          </a:p>
        </p:txBody>
      </p:sp>
      <p:sp>
        <p:nvSpPr>
          <p:cNvPr id="3" name="Shape 1"/>
          <p:cNvSpPr/>
          <p:nvPr/>
        </p:nvSpPr>
        <p:spPr>
          <a:xfrm>
            <a:off x="8412480" y="-2228768"/>
            <a:ext cx="6400800" cy="6400800"/>
          </a:xfrm>
          <a:prstGeom prst="ellipse">
            <a:avLst/>
          </a:prstGeom>
          <a:solidFill>
            <a:srgbClr val="1A2B6D">
              <a:alpha val="60000"/>
            </a:srgbClr>
          </a:solidFill>
          <a:ln/>
        </p:spPr>
      </p:sp>
      <p:sp>
        <p:nvSpPr>
          <p:cNvPr id="4" name="Text 2"/>
          <p:cNvSpPr/>
          <p:nvPr/>
        </p:nvSpPr>
        <p:spPr>
          <a:xfrm>
            <a:off x="640079" y="1538988"/>
            <a:ext cx="9144000" cy="365760"/>
          </a:xfrm>
          <a:prstGeom prst="rect">
            <a:avLst/>
          </a:prstGeom>
          <a:noFill/>
          <a:ln/>
        </p:spPr>
        <p:txBody>
          <a:bodyPr wrap="square" lIns="0" tIns="0" rIns="0" bIns="0" rtlCol="0" anchor="ctr"/>
          <a:lstStyle/>
          <a:p>
            <a:pPr marL="0" indent="0">
              <a:buNone/>
            </a:pPr>
            <a:r>
              <a:rPr lang="en-US" sz="1500" b="1" kern="0" spc="200" dirty="0">
                <a:solidFill>
                  <a:srgbClr val="F2994A"/>
                </a:solidFill>
                <a:latin typeface="Calibri" pitchFamily="34" charset="0"/>
                <a:ea typeface="Calibri" pitchFamily="34" charset="-122"/>
                <a:cs typeface="Calibri" pitchFamily="34" charset="-120"/>
              </a:rPr>
              <a:t>FINAL PROJECT PRESENTATION</a:t>
            </a:r>
            <a:endParaRPr lang="en-US" sz="1500" dirty="0"/>
          </a:p>
        </p:txBody>
      </p:sp>
      <p:sp>
        <p:nvSpPr>
          <p:cNvPr id="5" name="Text 3"/>
          <p:cNvSpPr/>
          <p:nvPr/>
        </p:nvSpPr>
        <p:spPr>
          <a:xfrm>
            <a:off x="652549" y="1667703"/>
            <a:ext cx="10515600" cy="86868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Funding Flow Insights</a:t>
            </a:r>
            <a:endParaRPr lang="en-US" sz="4200" dirty="0"/>
          </a:p>
        </p:txBody>
      </p:sp>
      <p:sp>
        <p:nvSpPr>
          <p:cNvPr id="6" name="Text 4"/>
          <p:cNvSpPr/>
          <p:nvPr/>
        </p:nvSpPr>
        <p:spPr>
          <a:xfrm>
            <a:off x="594360" y="2518863"/>
            <a:ext cx="10789920" cy="86868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A Comparative Funding Dashboard of Indian Startups</a:t>
            </a:r>
            <a:endParaRPr lang="en-US" sz="4200" dirty="0"/>
          </a:p>
        </p:txBody>
      </p:sp>
      <p:sp>
        <p:nvSpPr>
          <p:cNvPr id="7" name="Shape 5"/>
          <p:cNvSpPr/>
          <p:nvPr/>
        </p:nvSpPr>
        <p:spPr>
          <a:xfrm>
            <a:off x="640079" y="3639589"/>
            <a:ext cx="5577840" cy="0"/>
          </a:xfrm>
          <a:prstGeom prst="line">
            <a:avLst/>
          </a:prstGeom>
          <a:noFill/>
          <a:ln w="19050">
            <a:solidFill>
              <a:srgbClr val="F2994A"/>
            </a:solidFill>
            <a:prstDash val="solid"/>
          </a:ln>
        </p:spPr>
      </p:sp>
      <p:sp>
        <p:nvSpPr>
          <p:cNvPr id="8" name="Text 6"/>
          <p:cNvSpPr/>
          <p:nvPr/>
        </p:nvSpPr>
        <p:spPr>
          <a:xfrm>
            <a:off x="594360" y="3686001"/>
            <a:ext cx="10058400" cy="457200"/>
          </a:xfrm>
          <a:prstGeom prst="rect">
            <a:avLst/>
          </a:prstGeom>
          <a:noFill/>
          <a:ln/>
        </p:spPr>
        <p:txBody>
          <a:bodyPr wrap="square" lIns="0" tIns="0" rIns="0" bIns="0" rtlCol="0" anchor="ctr"/>
          <a:lstStyle/>
          <a:p>
            <a:pPr marL="0" indent="0">
              <a:buNone/>
            </a:pPr>
            <a:r>
              <a:rPr lang="en-US" sz="1900" dirty="0">
                <a:solidFill>
                  <a:srgbClr val="3B82F6"/>
                </a:solidFill>
                <a:latin typeface="Calibri" pitchFamily="34" charset="0"/>
                <a:ea typeface="Calibri" pitchFamily="34" charset="-122"/>
                <a:cs typeface="Calibri" pitchFamily="34" charset="-120"/>
              </a:rPr>
              <a:t>An Interactive Data Visualization Dashboard built on Indian Startup Funding data</a:t>
            </a:r>
            <a:endParaRPr lang="en-US" sz="1900" dirty="0"/>
          </a:p>
        </p:txBody>
      </p:sp>
      <p:sp>
        <p:nvSpPr>
          <p:cNvPr id="9" name="Text 7"/>
          <p:cNvSpPr/>
          <p:nvPr/>
        </p:nvSpPr>
        <p:spPr>
          <a:xfrm>
            <a:off x="640080" y="6126480"/>
            <a:ext cx="9144000" cy="306374"/>
          </a:xfrm>
          <a:prstGeom prst="rect">
            <a:avLst/>
          </a:prstGeom>
          <a:noFill/>
          <a:ln/>
        </p:spPr>
        <p:txBody>
          <a:bodyPr wrap="square" lIns="0" tIns="0" rIns="0" bIns="0" rtlCol="0" anchor="ctr"/>
          <a:lstStyle/>
          <a:p>
            <a:r>
              <a:rPr lang="en-US" dirty="0">
                <a:solidFill>
                  <a:srgbClr val="C7CEE8"/>
                </a:solidFill>
                <a:latin typeface="Calibri" pitchFamily="34" charset="0"/>
                <a:ea typeface="Calibri" pitchFamily="34" charset="-122"/>
                <a:cs typeface="Calibri" pitchFamily="34" charset="-120"/>
              </a:rPr>
              <a:t>Presented by: </a:t>
            </a:r>
            <a:r>
              <a:rPr lang="en-US" sz="2000" b="1" dirty="0">
                <a:solidFill>
                  <a:srgbClr val="C7CEE8"/>
                </a:solidFill>
                <a:latin typeface="Calibri" pitchFamily="34" charset="0"/>
                <a:ea typeface="Calibri" pitchFamily="34" charset="-122"/>
                <a:cs typeface="Calibri" pitchFamily="34" charset="-120"/>
              </a:rPr>
              <a:t>Team STCS  </a:t>
            </a:r>
            <a:r>
              <a:rPr lang="en-US" sz="2000" dirty="0">
                <a:solidFill>
                  <a:srgbClr val="C7CEE8"/>
                </a:solidFill>
                <a:latin typeface="Calibri" pitchFamily="34" charset="0"/>
                <a:ea typeface="Calibri" pitchFamily="34" charset="-122"/>
                <a:cs typeface="Calibri" pitchFamily="34" charset="-120"/>
              </a:rPr>
              <a:t>|  </a:t>
            </a:r>
            <a:r>
              <a:rPr lang="en-US" sz="2000" b="1" dirty="0">
                <a:solidFill>
                  <a:srgbClr val="C7CEE8"/>
                </a:solidFill>
                <a:latin typeface="Calibri" pitchFamily="34" charset="0"/>
                <a:ea typeface="Calibri" pitchFamily="34" charset="-122"/>
                <a:cs typeface="Calibri" pitchFamily="34" charset="-120"/>
              </a:rPr>
              <a:t>Big Data &amp; Business Management </a:t>
            </a:r>
          </a:p>
          <a:p>
            <a:r>
              <a:rPr lang="en-US" sz="1600" dirty="0">
                <a:solidFill>
                  <a:srgbClr val="C7CEE8"/>
                </a:solidFill>
                <a:latin typeface="Calibri" pitchFamily="34" charset="0"/>
                <a:ea typeface="Calibri" pitchFamily="34" charset="-122"/>
                <a:cs typeface="Calibri" pitchFamily="34" charset="-120"/>
              </a:rPr>
              <a:t>(</a:t>
            </a:r>
            <a:r>
              <a:rPr lang="en-IN" sz="1400" dirty="0"/>
              <a:t>Mar Baselios College of Engineering and Technology</a:t>
            </a:r>
            <a:r>
              <a:rPr lang="en-US" sz="1400" dirty="0">
                <a:latin typeface="Calibri" pitchFamily="34" charset="0"/>
                <a:ea typeface="Calibri" pitchFamily="34" charset="-122"/>
                <a:cs typeface="Calibri" pitchFamily="34" charset="-120"/>
              </a:rPr>
              <a:t>  , Govt. Model Engineering College, </a:t>
            </a:r>
            <a:r>
              <a:rPr lang="en-IN" sz="1400" dirty="0"/>
              <a:t>Amrita Vishwa Vidyapeetham,</a:t>
            </a:r>
            <a:r>
              <a:rPr lang="en-US" sz="1400" dirty="0">
                <a:latin typeface="Calibri" pitchFamily="34" charset="0"/>
                <a:ea typeface="Calibri" pitchFamily="34" charset="-122"/>
                <a:cs typeface="Calibri" pitchFamily="34" charset="-120"/>
              </a:rPr>
              <a:t> TKM College of Engineering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E"/>
        </a:solidFill>
        <a:effectLst/>
      </p:bgPr>
    </p:bg>
    <p:spTree>
      <p:nvGrpSpPr>
        <p:cNvPr id="1" name=""/>
        <p:cNvGrpSpPr/>
        <p:nvPr/>
      </p:nvGrpSpPr>
      <p:grpSpPr>
        <a:xfrm>
          <a:off x="0" y="0"/>
          <a:ext cx="0" cy="0"/>
          <a:chOff x="0" y="0"/>
          <a:chExt cx="0" cy="0"/>
        </a:xfrm>
      </p:grpSpPr>
      <p:sp>
        <p:nvSpPr>
          <p:cNvPr id="18" name="Text 16"/>
          <p:cNvSpPr/>
          <p:nvPr/>
        </p:nvSpPr>
        <p:spPr>
          <a:xfrm>
            <a:off x="7196328" y="2167128"/>
            <a:ext cx="4846320" cy="713232"/>
          </a:xfrm>
          <a:prstGeom prst="rect">
            <a:avLst/>
          </a:prstGeom>
          <a:noFill/>
          <a:ln/>
        </p:spPr>
        <p:txBody>
          <a:bodyPr wrap="square" lIns="0" tIns="0" rIns="0" bIns="0" rtlCol="0" anchor="ctr"/>
          <a:lstStyle/>
          <a:p>
            <a:pPr marL="0" indent="0">
              <a:buNone/>
            </a:pPr>
            <a:r>
              <a:rPr lang="en-US" sz="1700" b="1" dirty="0">
                <a:solidFill>
                  <a:srgbClr val="1F2430"/>
                </a:solidFill>
                <a:latin typeface="Calibri" pitchFamily="34" charset="0"/>
                <a:ea typeface="Calibri" pitchFamily="34" charset="-122"/>
                <a:cs typeface="Calibri" pitchFamily="34" charset="-120"/>
              </a:rPr>
              <a:t>Dashboard Features &amp; Visualizations</a:t>
            </a:r>
            <a:endParaRPr lang="en-US" sz="1700" dirty="0"/>
          </a:p>
        </p:txBody>
      </p:sp>
      <p:sp>
        <p:nvSpPr>
          <p:cNvPr id="21" name="Text 19"/>
          <p:cNvSpPr/>
          <p:nvPr/>
        </p:nvSpPr>
        <p:spPr>
          <a:xfrm>
            <a:off x="7196328" y="3246120"/>
            <a:ext cx="4846320" cy="713232"/>
          </a:xfrm>
          <a:prstGeom prst="rect">
            <a:avLst/>
          </a:prstGeom>
          <a:noFill/>
          <a:ln/>
        </p:spPr>
        <p:txBody>
          <a:bodyPr wrap="square" lIns="0" tIns="0" rIns="0" bIns="0" rtlCol="0" anchor="ctr"/>
          <a:lstStyle/>
          <a:p>
            <a:pPr marL="0" indent="0">
              <a:buNone/>
            </a:pPr>
            <a:r>
              <a:rPr lang="en-US" sz="1700" b="1" dirty="0">
                <a:solidFill>
                  <a:srgbClr val="1F2430"/>
                </a:solidFill>
                <a:latin typeface="Calibri" pitchFamily="34" charset="0"/>
                <a:ea typeface="Calibri" pitchFamily="34" charset="-122"/>
                <a:cs typeface="Calibri" pitchFamily="34" charset="-120"/>
              </a:rPr>
              <a:t>Key Insights</a:t>
            </a:r>
            <a:endParaRPr lang="en-US" sz="1700" dirty="0"/>
          </a:p>
        </p:txBody>
      </p:sp>
      <p:grpSp>
        <p:nvGrpSpPr>
          <p:cNvPr id="26" name="Group 25">
            <a:extLst>
              <a:ext uri="{FF2B5EF4-FFF2-40B4-BE49-F238E27FC236}">
                <a16:creationId xmlns:a16="http://schemas.microsoft.com/office/drawing/2014/main" id="{FA46C646-B0E5-20CA-190F-29CE8E71F276}"/>
              </a:ext>
            </a:extLst>
          </p:cNvPr>
          <p:cNvGrpSpPr/>
          <p:nvPr/>
        </p:nvGrpSpPr>
        <p:grpSpPr>
          <a:xfrm>
            <a:off x="475488" y="822960"/>
            <a:ext cx="9144000" cy="5212080"/>
            <a:chOff x="548640" y="457200"/>
            <a:chExt cx="9144000" cy="5212080"/>
          </a:xfrm>
        </p:grpSpPr>
        <p:sp>
          <p:nvSpPr>
            <p:cNvPr id="2" name="Text 0"/>
            <p:cNvSpPr/>
            <p:nvPr/>
          </p:nvSpPr>
          <p:spPr>
            <a:xfrm>
              <a:off x="548640" y="457200"/>
              <a:ext cx="9144000" cy="640080"/>
            </a:xfrm>
            <a:prstGeom prst="rect">
              <a:avLst/>
            </a:prstGeom>
            <a:noFill/>
            <a:ln/>
          </p:spPr>
          <p:txBody>
            <a:bodyPr wrap="square" lIns="0" tIns="0" rIns="0" bIns="0" rtlCol="0" anchor="ctr"/>
            <a:lstStyle/>
            <a:p>
              <a:pPr marL="0" indent="0">
                <a:buNone/>
              </a:pPr>
              <a:r>
                <a:rPr lang="en-US" sz="3400" b="1" dirty="0">
                  <a:solidFill>
                    <a:srgbClr val="1A2B6D"/>
                  </a:solidFill>
                  <a:latin typeface="Cambria" pitchFamily="34" charset="0"/>
                  <a:ea typeface="Cambria" pitchFamily="34" charset="-122"/>
                  <a:cs typeface="Cambria" pitchFamily="34" charset="-120"/>
                </a:rPr>
                <a:t>What We'll Cover</a:t>
              </a:r>
              <a:endParaRPr lang="en-US" sz="3400" dirty="0"/>
            </a:p>
          </p:txBody>
        </p:sp>
        <p:sp>
          <p:nvSpPr>
            <p:cNvPr id="3" name="Text 1"/>
            <p:cNvSpPr/>
            <p:nvPr/>
          </p:nvSpPr>
          <p:spPr>
            <a:xfrm>
              <a:off x="548640" y="1078992"/>
              <a:ext cx="9144000" cy="36576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Agenda for today's final project presentation</a:t>
              </a:r>
              <a:endParaRPr lang="en-US" sz="1500" dirty="0"/>
            </a:p>
          </p:txBody>
        </p:sp>
        <p:grpSp>
          <p:nvGrpSpPr>
            <p:cNvPr id="25" name="Group 24">
              <a:extLst>
                <a:ext uri="{FF2B5EF4-FFF2-40B4-BE49-F238E27FC236}">
                  <a16:creationId xmlns:a16="http://schemas.microsoft.com/office/drawing/2014/main" id="{4E30A46C-37C3-DC61-4320-C8CD20019ADB}"/>
                </a:ext>
              </a:extLst>
            </p:cNvPr>
            <p:cNvGrpSpPr/>
            <p:nvPr/>
          </p:nvGrpSpPr>
          <p:grpSpPr>
            <a:xfrm>
              <a:off x="640080" y="1801368"/>
              <a:ext cx="6327648" cy="3867912"/>
              <a:chOff x="640080" y="1801368"/>
              <a:chExt cx="6327648" cy="3867912"/>
            </a:xfrm>
          </p:grpSpPr>
          <p:sp>
            <p:nvSpPr>
              <p:cNvPr id="4" name="Shape 2"/>
              <p:cNvSpPr/>
              <p:nvPr/>
            </p:nvSpPr>
            <p:spPr>
              <a:xfrm>
                <a:off x="640080" y="1874520"/>
                <a:ext cx="566928" cy="566928"/>
              </a:xfrm>
              <a:prstGeom prst="ellipse">
                <a:avLst/>
              </a:prstGeom>
              <a:solidFill>
                <a:srgbClr val="F2994A"/>
              </a:solidFill>
              <a:ln/>
            </p:spPr>
          </p:sp>
          <p:sp>
            <p:nvSpPr>
              <p:cNvPr id="5" name="Text 3"/>
              <p:cNvSpPr/>
              <p:nvPr/>
            </p:nvSpPr>
            <p:spPr>
              <a:xfrm>
                <a:off x="640080" y="1874520"/>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6" name="Text 4"/>
              <p:cNvSpPr/>
              <p:nvPr/>
            </p:nvSpPr>
            <p:spPr>
              <a:xfrm>
                <a:off x="1435608" y="1801368"/>
                <a:ext cx="4846320" cy="713232"/>
              </a:xfrm>
              <a:prstGeom prst="rect">
                <a:avLst/>
              </a:prstGeom>
              <a:noFill/>
              <a:ln/>
            </p:spPr>
            <p:txBody>
              <a:bodyPr wrap="square" lIns="0" tIns="0" rIns="0" bIns="0" rtlCol="0" anchor="ctr"/>
              <a:lstStyle/>
              <a:p>
                <a:pPr marL="0" indent="0">
                  <a:buNone/>
                </a:pPr>
                <a:r>
                  <a:rPr lang="en-US" sz="1700" b="1" dirty="0">
                    <a:solidFill>
                      <a:srgbClr val="1F2430"/>
                    </a:solidFill>
                    <a:latin typeface="Calibri" pitchFamily="34" charset="0"/>
                    <a:ea typeface="Calibri" pitchFamily="34" charset="-122"/>
                    <a:cs typeface="Calibri" pitchFamily="34" charset="-120"/>
                  </a:rPr>
                  <a:t>Introduction &amp; Problem Statement</a:t>
                </a:r>
                <a:endParaRPr lang="en-US" sz="1700" dirty="0"/>
              </a:p>
            </p:txBody>
          </p:sp>
          <p:sp>
            <p:nvSpPr>
              <p:cNvPr id="7" name="Shape 5"/>
              <p:cNvSpPr/>
              <p:nvPr/>
            </p:nvSpPr>
            <p:spPr>
              <a:xfrm>
                <a:off x="640080" y="2926080"/>
                <a:ext cx="566928" cy="566928"/>
              </a:xfrm>
              <a:prstGeom prst="ellipse">
                <a:avLst/>
              </a:prstGeom>
              <a:solidFill>
                <a:srgbClr val="F2994A"/>
              </a:solidFill>
              <a:ln/>
            </p:spPr>
          </p:sp>
          <p:sp>
            <p:nvSpPr>
              <p:cNvPr id="8" name="Text 6"/>
              <p:cNvSpPr/>
              <p:nvPr/>
            </p:nvSpPr>
            <p:spPr>
              <a:xfrm>
                <a:off x="640080" y="2926080"/>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9" name="Text 7"/>
              <p:cNvSpPr/>
              <p:nvPr/>
            </p:nvSpPr>
            <p:spPr>
              <a:xfrm>
                <a:off x="1435608" y="2852928"/>
                <a:ext cx="4846320" cy="713232"/>
              </a:xfrm>
              <a:prstGeom prst="rect">
                <a:avLst/>
              </a:prstGeom>
              <a:noFill/>
              <a:ln/>
            </p:spPr>
            <p:txBody>
              <a:bodyPr wrap="square" lIns="0" tIns="0" rIns="0" bIns="0" rtlCol="0" anchor="ctr"/>
              <a:lstStyle/>
              <a:p>
                <a:pPr marL="0" indent="0">
                  <a:buNone/>
                </a:pPr>
                <a:r>
                  <a:rPr lang="en-US" sz="1700" b="1" dirty="0">
                    <a:solidFill>
                      <a:srgbClr val="1F2430"/>
                    </a:solidFill>
                    <a:latin typeface="Calibri" pitchFamily="34" charset="0"/>
                    <a:ea typeface="Calibri" pitchFamily="34" charset="-122"/>
                    <a:cs typeface="Calibri" pitchFamily="34" charset="-120"/>
                  </a:rPr>
                  <a:t>Project Objectives</a:t>
                </a:r>
                <a:endParaRPr lang="en-US" sz="1700" dirty="0"/>
              </a:p>
            </p:txBody>
          </p:sp>
          <p:sp>
            <p:nvSpPr>
              <p:cNvPr id="10" name="Shape 8"/>
              <p:cNvSpPr/>
              <p:nvPr/>
            </p:nvSpPr>
            <p:spPr>
              <a:xfrm>
                <a:off x="640080" y="3977640"/>
                <a:ext cx="566928" cy="566928"/>
              </a:xfrm>
              <a:prstGeom prst="ellipse">
                <a:avLst/>
              </a:prstGeom>
              <a:solidFill>
                <a:srgbClr val="F2994A"/>
              </a:solidFill>
              <a:ln/>
            </p:spPr>
          </p:sp>
          <p:sp>
            <p:nvSpPr>
              <p:cNvPr id="11" name="Text 9"/>
              <p:cNvSpPr/>
              <p:nvPr/>
            </p:nvSpPr>
            <p:spPr>
              <a:xfrm>
                <a:off x="640080" y="3977640"/>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2" name="Text 10"/>
              <p:cNvSpPr/>
              <p:nvPr/>
            </p:nvSpPr>
            <p:spPr>
              <a:xfrm>
                <a:off x="1435608" y="3904488"/>
                <a:ext cx="4846320" cy="713232"/>
              </a:xfrm>
              <a:prstGeom prst="rect">
                <a:avLst/>
              </a:prstGeom>
              <a:noFill/>
              <a:ln/>
            </p:spPr>
            <p:txBody>
              <a:bodyPr wrap="square" lIns="0" tIns="0" rIns="0" bIns="0" rtlCol="0" anchor="ctr"/>
              <a:lstStyle/>
              <a:p>
                <a:pPr marL="0" indent="0">
                  <a:buNone/>
                </a:pPr>
                <a:r>
                  <a:rPr lang="en-US" sz="1700" b="1" dirty="0">
                    <a:solidFill>
                      <a:srgbClr val="1F2430"/>
                    </a:solidFill>
                    <a:latin typeface="Calibri" pitchFamily="34" charset="0"/>
                    <a:ea typeface="Calibri" pitchFamily="34" charset="-122"/>
                    <a:cs typeface="Calibri" pitchFamily="34" charset="-120"/>
                  </a:rPr>
                  <a:t>Dataset Description</a:t>
                </a:r>
                <a:endParaRPr lang="en-US" sz="1700" dirty="0"/>
              </a:p>
            </p:txBody>
          </p:sp>
          <p:sp>
            <p:nvSpPr>
              <p:cNvPr id="13" name="Shape 11"/>
              <p:cNvSpPr/>
              <p:nvPr/>
            </p:nvSpPr>
            <p:spPr>
              <a:xfrm>
                <a:off x="640080" y="5029200"/>
                <a:ext cx="566928" cy="566928"/>
              </a:xfrm>
              <a:prstGeom prst="ellipse">
                <a:avLst/>
              </a:prstGeom>
              <a:solidFill>
                <a:srgbClr val="F2994A"/>
              </a:solidFill>
              <a:ln/>
            </p:spPr>
          </p:sp>
          <p:sp>
            <p:nvSpPr>
              <p:cNvPr id="14" name="Text 12"/>
              <p:cNvSpPr/>
              <p:nvPr/>
            </p:nvSpPr>
            <p:spPr>
              <a:xfrm>
                <a:off x="640080" y="5029200"/>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15" name="Text 13"/>
              <p:cNvSpPr/>
              <p:nvPr/>
            </p:nvSpPr>
            <p:spPr>
              <a:xfrm>
                <a:off x="1435608" y="4956048"/>
                <a:ext cx="4846320" cy="713232"/>
              </a:xfrm>
              <a:prstGeom prst="rect">
                <a:avLst/>
              </a:prstGeom>
              <a:noFill/>
              <a:ln/>
            </p:spPr>
            <p:txBody>
              <a:bodyPr wrap="square" lIns="0" tIns="0" rIns="0" bIns="0" rtlCol="0" anchor="ctr"/>
              <a:lstStyle/>
              <a:p>
                <a:pPr marL="0" indent="0">
                  <a:buNone/>
                </a:pPr>
                <a:r>
                  <a:rPr lang="en-US" sz="1700" b="1" dirty="0">
                    <a:solidFill>
                      <a:srgbClr val="1F2430"/>
                    </a:solidFill>
                    <a:latin typeface="Calibri" pitchFamily="34" charset="0"/>
                    <a:ea typeface="Calibri" pitchFamily="34" charset="-122"/>
                    <a:cs typeface="Calibri" pitchFamily="34" charset="-120"/>
                  </a:rPr>
                  <a:t>Data Cleaning Highlights</a:t>
                </a:r>
                <a:endParaRPr lang="en-US" sz="1700" dirty="0"/>
              </a:p>
            </p:txBody>
          </p:sp>
          <p:sp>
            <p:nvSpPr>
              <p:cNvPr id="16" name="Shape 14"/>
              <p:cNvSpPr/>
              <p:nvPr/>
            </p:nvSpPr>
            <p:spPr>
              <a:xfrm>
                <a:off x="6400800" y="1874520"/>
                <a:ext cx="566928" cy="566928"/>
              </a:xfrm>
              <a:prstGeom prst="ellipse">
                <a:avLst/>
              </a:prstGeom>
              <a:solidFill>
                <a:srgbClr val="F2994A"/>
              </a:solidFill>
              <a:ln/>
            </p:spPr>
          </p:sp>
          <p:sp>
            <p:nvSpPr>
              <p:cNvPr id="17" name="Text 15"/>
              <p:cNvSpPr/>
              <p:nvPr/>
            </p:nvSpPr>
            <p:spPr>
              <a:xfrm>
                <a:off x="6400800" y="1874520"/>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19" name="Shape 17"/>
              <p:cNvSpPr/>
              <p:nvPr/>
            </p:nvSpPr>
            <p:spPr>
              <a:xfrm>
                <a:off x="6400800" y="2926080"/>
                <a:ext cx="566928" cy="566928"/>
              </a:xfrm>
              <a:prstGeom prst="ellipse">
                <a:avLst/>
              </a:prstGeom>
              <a:solidFill>
                <a:srgbClr val="F2994A"/>
              </a:solidFill>
              <a:ln/>
            </p:spPr>
          </p:sp>
          <p:sp>
            <p:nvSpPr>
              <p:cNvPr id="20" name="Text 18"/>
              <p:cNvSpPr/>
              <p:nvPr/>
            </p:nvSpPr>
            <p:spPr>
              <a:xfrm>
                <a:off x="6400800" y="2926080"/>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22" name="Shape 20"/>
              <p:cNvSpPr/>
              <p:nvPr/>
            </p:nvSpPr>
            <p:spPr>
              <a:xfrm>
                <a:off x="6400800" y="3977640"/>
                <a:ext cx="566928" cy="566928"/>
              </a:xfrm>
              <a:prstGeom prst="ellipse">
                <a:avLst/>
              </a:prstGeom>
              <a:solidFill>
                <a:srgbClr val="F2994A"/>
              </a:solidFill>
              <a:ln/>
            </p:spPr>
          </p:sp>
          <p:sp>
            <p:nvSpPr>
              <p:cNvPr id="23" name="Text 21"/>
              <p:cNvSpPr/>
              <p:nvPr/>
            </p:nvSpPr>
            <p:spPr>
              <a:xfrm>
                <a:off x="6400800" y="3977640"/>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07</a:t>
                </a:r>
                <a:endParaRPr lang="en-US" sz="1500" dirty="0"/>
              </a:p>
            </p:txBody>
          </p:sp>
        </p:grpSp>
      </p:grpSp>
      <p:sp>
        <p:nvSpPr>
          <p:cNvPr id="24" name="Text 22"/>
          <p:cNvSpPr/>
          <p:nvPr/>
        </p:nvSpPr>
        <p:spPr>
          <a:xfrm>
            <a:off x="7272528" y="4270248"/>
            <a:ext cx="4846320" cy="713232"/>
          </a:xfrm>
          <a:prstGeom prst="rect">
            <a:avLst/>
          </a:prstGeom>
          <a:noFill/>
          <a:ln/>
        </p:spPr>
        <p:txBody>
          <a:bodyPr wrap="square" lIns="0" tIns="0" rIns="0" bIns="0" rtlCol="0" anchor="ctr"/>
          <a:lstStyle/>
          <a:p>
            <a:pPr marL="0" indent="0">
              <a:buNone/>
            </a:pPr>
            <a:r>
              <a:rPr lang="en-US" sz="1700" b="1" dirty="0">
                <a:solidFill>
                  <a:srgbClr val="1F2430"/>
                </a:solidFill>
                <a:latin typeface="Calibri" pitchFamily="34" charset="0"/>
                <a:ea typeface="Calibri" pitchFamily="34" charset="-122"/>
                <a:cs typeface="Calibri" pitchFamily="34" charset="-120"/>
              </a:rPr>
              <a:t>Expected Outcomes &amp; Conclusion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12064" y="1051560"/>
            <a:ext cx="11064240" cy="685800"/>
          </a:xfrm>
          <a:prstGeom prst="rect">
            <a:avLst/>
          </a:prstGeom>
          <a:noFill/>
          <a:ln/>
        </p:spPr>
        <p:txBody>
          <a:bodyPr wrap="square" lIns="0" tIns="0" rIns="0" bIns="0" rtlCol="0" anchor="ctr"/>
          <a:lstStyle/>
          <a:p>
            <a:pPr marL="0" indent="0">
              <a:buNone/>
            </a:pPr>
            <a:r>
              <a:rPr lang="en-US" sz="3400" b="1" dirty="0">
                <a:solidFill>
                  <a:srgbClr val="1A2B6D"/>
                </a:solidFill>
                <a:latin typeface="Cambria" pitchFamily="34" charset="0"/>
                <a:ea typeface="Cambria" pitchFamily="34" charset="-122"/>
                <a:cs typeface="Cambria" pitchFamily="34" charset="-120"/>
              </a:rPr>
              <a:t>India's Startup Funding Landscape</a:t>
            </a:r>
            <a:endParaRPr lang="en-US" sz="3400" dirty="0"/>
          </a:p>
        </p:txBody>
      </p:sp>
      <p:sp>
        <p:nvSpPr>
          <p:cNvPr id="3" name="Text 1"/>
          <p:cNvSpPr/>
          <p:nvPr/>
        </p:nvSpPr>
        <p:spPr>
          <a:xfrm>
            <a:off x="512064" y="1691640"/>
            <a:ext cx="11064240" cy="36576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A high-volume, fast-moving funding ecosystem (2015–2020)</a:t>
            </a:r>
            <a:endParaRPr lang="en-US" sz="1500" dirty="0"/>
          </a:p>
        </p:txBody>
      </p:sp>
      <p:sp>
        <p:nvSpPr>
          <p:cNvPr id="4" name="Text 2"/>
          <p:cNvSpPr/>
          <p:nvPr/>
        </p:nvSpPr>
        <p:spPr>
          <a:xfrm>
            <a:off x="512064" y="2359152"/>
            <a:ext cx="11064240" cy="822960"/>
          </a:xfrm>
          <a:prstGeom prst="rect">
            <a:avLst/>
          </a:prstGeom>
          <a:noFill/>
          <a:ln/>
        </p:spPr>
        <p:txBody>
          <a:bodyPr wrap="square" lIns="0" tIns="0" rIns="0" bIns="0" rtlCol="0" anchor="ctr"/>
          <a:lstStyle/>
          <a:p>
            <a:pPr marL="0" indent="0">
              <a:lnSpc>
                <a:spcPct val="125000"/>
              </a:lnSpc>
              <a:buNone/>
            </a:pPr>
            <a:r>
              <a:rPr lang="en-US" sz="1500" dirty="0">
                <a:solidFill>
                  <a:srgbClr val="1F2430"/>
                </a:solidFill>
                <a:latin typeface="Calibri" pitchFamily="34" charset="0"/>
                <a:ea typeface="Calibri" pitchFamily="34" charset="-122"/>
                <a:cs typeface="Calibri" pitchFamily="34" charset="-120"/>
              </a:rPr>
              <a:t>The Indian startup ecosystem attracted large and varied capital inflows between 2015 and 2020, spanning thousands of deals across hundreds of cities and industries. Understanding this scale and distribution is essential for investors, founders and policy analysts alike.</a:t>
            </a:r>
            <a:endParaRPr lang="en-US" sz="1500" dirty="0"/>
          </a:p>
        </p:txBody>
      </p:sp>
      <p:sp>
        <p:nvSpPr>
          <p:cNvPr id="5" name="Shape 3"/>
          <p:cNvSpPr/>
          <p:nvPr/>
        </p:nvSpPr>
        <p:spPr>
          <a:xfrm>
            <a:off x="512064" y="3547872"/>
            <a:ext cx="2606040" cy="1554480"/>
          </a:xfrm>
          <a:prstGeom prst="roundRect">
            <a:avLst>
              <a:gd name="adj" fmla="val 4706"/>
            </a:avLst>
          </a:prstGeom>
          <a:solidFill>
            <a:srgbClr val="EAF0FB"/>
          </a:solidFill>
          <a:ln/>
          <a:effectLst>
            <a:outerShdw blurRad="101600" dist="25400" dir="5400000" algn="bl" rotWithShape="0">
              <a:srgbClr val="000000">
                <a:alpha val="12000"/>
              </a:srgbClr>
            </a:outerShdw>
          </a:effectLst>
        </p:spPr>
      </p:sp>
      <p:sp>
        <p:nvSpPr>
          <p:cNvPr id="6" name="Text 4"/>
          <p:cNvSpPr/>
          <p:nvPr/>
        </p:nvSpPr>
        <p:spPr>
          <a:xfrm>
            <a:off x="603504" y="3776472"/>
            <a:ext cx="2423160" cy="640080"/>
          </a:xfrm>
          <a:prstGeom prst="rect">
            <a:avLst/>
          </a:prstGeom>
          <a:noFill/>
          <a:ln/>
        </p:spPr>
        <p:txBody>
          <a:bodyPr wrap="square" lIns="0" tIns="0" rIns="0" bIns="0" rtlCol="0" anchor="ctr"/>
          <a:lstStyle/>
          <a:p>
            <a:pPr marL="0" indent="0" algn="ctr">
              <a:buNone/>
            </a:pPr>
            <a:r>
              <a:rPr lang="en-US" sz="2600" b="1" dirty="0">
                <a:solidFill>
                  <a:srgbClr val="1A2B6D"/>
                </a:solidFill>
                <a:latin typeface="Cambria" pitchFamily="34" charset="0"/>
                <a:ea typeface="Cambria" pitchFamily="34" charset="-122"/>
                <a:cs typeface="Cambria" pitchFamily="34" charset="-120"/>
              </a:rPr>
              <a:t>$32.9B</a:t>
            </a:r>
            <a:endParaRPr lang="en-US" sz="2600" dirty="0"/>
          </a:p>
        </p:txBody>
      </p:sp>
      <p:sp>
        <p:nvSpPr>
          <p:cNvPr id="7" name="Text 5"/>
          <p:cNvSpPr/>
          <p:nvPr/>
        </p:nvSpPr>
        <p:spPr>
          <a:xfrm>
            <a:off x="603504" y="4462272"/>
            <a:ext cx="2423160" cy="457200"/>
          </a:xfrm>
          <a:prstGeom prst="rect">
            <a:avLst/>
          </a:prstGeom>
          <a:noFill/>
          <a:ln/>
        </p:spPr>
        <p:txBody>
          <a:bodyPr wrap="square" lIns="0" tIns="0" rIns="0" bIns="0" rtlCol="0" anchor="ctr"/>
          <a:lstStyle/>
          <a:p>
            <a:pPr marL="0" indent="0" algn="ctr">
              <a:buNone/>
            </a:pPr>
            <a:r>
              <a:rPr lang="en-US" sz="1250" dirty="0">
                <a:solidFill>
                  <a:srgbClr val="6B7280"/>
                </a:solidFill>
                <a:latin typeface="Calibri" pitchFamily="34" charset="0"/>
                <a:ea typeface="Calibri" pitchFamily="34" charset="-122"/>
                <a:cs typeface="Calibri" pitchFamily="34" charset="-120"/>
              </a:rPr>
              <a:t>Total Funding Raised</a:t>
            </a:r>
            <a:endParaRPr lang="en-US" sz="1250" dirty="0"/>
          </a:p>
        </p:txBody>
      </p:sp>
      <p:sp>
        <p:nvSpPr>
          <p:cNvPr id="8" name="Shape 6"/>
          <p:cNvSpPr/>
          <p:nvPr/>
        </p:nvSpPr>
        <p:spPr>
          <a:xfrm>
            <a:off x="3319272" y="3547872"/>
            <a:ext cx="2606040" cy="1554480"/>
          </a:xfrm>
          <a:prstGeom prst="roundRect">
            <a:avLst>
              <a:gd name="adj" fmla="val 4706"/>
            </a:avLst>
          </a:prstGeom>
          <a:solidFill>
            <a:srgbClr val="EAF0FB"/>
          </a:solidFill>
          <a:ln/>
          <a:effectLst>
            <a:outerShdw blurRad="101600" dist="25400" dir="5400000" algn="bl" rotWithShape="0">
              <a:srgbClr val="000000">
                <a:alpha val="12000"/>
              </a:srgbClr>
            </a:outerShdw>
          </a:effectLst>
        </p:spPr>
      </p:sp>
      <p:sp>
        <p:nvSpPr>
          <p:cNvPr id="9" name="Text 7"/>
          <p:cNvSpPr/>
          <p:nvPr/>
        </p:nvSpPr>
        <p:spPr>
          <a:xfrm>
            <a:off x="3410712" y="3776472"/>
            <a:ext cx="2423160" cy="640080"/>
          </a:xfrm>
          <a:prstGeom prst="rect">
            <a:avLst/>
          </a:prstGeom>
          <a:noFill/>
          <a:ln/>
        </p:spPr>
        <p:txBody>
          <a:bodyPr wrap="square" lIns="0" tIns="0" rIns="0" bIns="0" rtlCol="0" anchor="ctr"/>
          <a:lstStyle/>
          <a:p>
            <a:pPr marL="0" indent="0" algn="ctr">
              <a:buNone/>
            </a:pPr>
            <a:r>
              <a:rPr lang="en-US" sz="2600" b="1" dirty="0">
                <a:solidFill>
                  <a:srgbClr val="1A2B6D"/>
                </a:solidFill>
                <a:latin typeface="Cambria" pitchFamily="34" charset="0"/>
                <a:ea typeface="Cambria" pitchFamily="34" charset="-122"/>
                <a:cs typeface="Cambria" pitchFamily="34" charset="-120"/>
              </a:rPr>
              <a:t>2,138</a:t>
            </a:r>
            <a:endParaRPr lang="en-US" sz="2600" dirty="0"/>
          </a:p>
        </p:txBody>
      </p:sp>
      <p:sp>
        <p:nvSpPr>
          <p:cNvPr id="10" name="Text 8"/>
          <p:cNvSpPr/>
          <p:nvPr/>
        </p:nvSpPr>
        <p:spPr>
          <a:xfrm>
            <a:off x="3410712" y="4462272"/>
            <a:ext cx="2423160" cy="457200"/>
          </a:xfrm>
          <a:prstGeom prst="rect">
            <a:avLst/>
          </a:prstGeom>
          <a:noFill/>
          <a:ln/>
        </p:spPr>
        <p:txBody>
          <a:bodyPr wrap="square" lIns="0" tIns="0" rIns="0" bIns="0" rtlCol="0" anchor="ctr"/>
          <a:lstStyle/>
          <a:p>
            <a:pPr marL="0" indent="0" algn="ctr">
              <a:buNone/>
            </a:pPr>
            <a:r>
              <a:rPr lang="en-US" sz="1250" dirty="0">
                <a:solidFill>
                  <a:srgbClr val="6B7280"/>
                </a:solidFill>
                <a:latin typeface="Calibri" pitchFamily="34" charset="0"/>
                <a:ea typeface="Calibri" pitchFamily="34" charset="-122"/>
                <a:cs typeface="Calibri" pitchFamily="34" charset="-120"/>
              </a:rPr>
              <a:t>Startups Funded</a:t>
            </a:r>
            <a:endParaRPr lang="en-US" sz="1250" dirty="0"/>
          </a:p>
        </p:txBody>
      </p:sp>
      <p:sp>
        <p:nvSpPr>
          <p:cNvPr id="11" name="Shape 9"/>
          <p:cNvSpPr/>
          <p:nvPr/>
        </p:nvSpPr>
        <p:spPr>
          <a:xfrm>
            <a:off x="6126480" y="3547872"/>
            <a:ext cx="2606040" cy="1554480"/>
          </a:xfrm>
          <a:prstGeom prst="roundRect">
            <a:avLst>
              <a:gd name="adj" fmla="val 4706"/>
            </a:avLst>
          </a:prstGeom>
          <a:solidFill>
            <a:srgbClr val="EAF0FB"/>
          </a:solidFill>
          <a:ln/>
          <a:effectLst>
            <a:outerShdw blurRad="101600" dist="25400" dir="5400000" algn="bl" rotWithShape="0">
              <a:srgbClr val="000000">
                <a:alpha val="12000"/>
              </a:srgbClr>
            </a:outerShdw>
          </a:effectLst>
        </p:spPr>
      </p:sp>
      <p:sp>
        <p:nvSpPr>
          <p:cNvPr id="12" name="Text 10"/>
          <p:cNvSpPr/>
          <p:nvPr/>
        </p:nvSpPr>
        <p:spPr>
          <a:xfrm>
            <a:off x="6217920" y="3776472"/>
            <a:ext cx="2423160" cy="640080"/>
          </a:xfrm>
          <a:prstGeom prst="rect">
            <a:avLst/>
          </a:prstGeom>
          <a:noFill/>
          <a:ln/>
        </p:spPr>
        <p:txBody>
          <a:bodyPr wrap="square" lIns="0" tIns="0" rIns="0" bIns="0" rtlCol="0" anchor="ctr"/>
          <a:lstStyle/>
          <a:p>
            <a:pPr marL="0" indent="0" algn="ctr">
              <a:buNone/>
            </a:pPr>
            <a:r>
              <a:rPr lang="en-US" sz="2600" b="1" dirty="0">
                <a:solidFill>
                  <a:srgbClr val="1A2B6D"/>
                </a:solidFill>
                <a:latin typeface="Cambria" pitchFamily="34" charset="0"/>
                <a:ea typeface="Cambria" pitchFamily="34" charset="-122"/>
                <a:cs typeface="Cambria" pitchFamily="34" charset="-120"/>
              </a:rPr>
              <a:t>3,044+</a:t>
            </a:r>
            <a:endParaRPr lang="en-US" sz="2600" dirty="0"/>
          </a:p>
        </p:txBody>
      </p:sp>
      <p:sp>
        <p:nvSpPr>
          <p:cNvPr id="13" name="Text 11"/>
          <p:cNvSpPr/>
          <p:nvPr/>
        </p:nvSpPr>
        <p:spPr>
          <a:xfrm>
            <a:off x="6217920" y="4462272"/>
            <a:ext cx="2423160" cy="457200"/>
          </a:xfrm>
          <a:prstGeom prst="rect">
            <a:avLst/>
          </a:prstGeom>
          <a:noFill/>
          <a:ln/>
        </p:spPr>
        <p:txBody>
          <a:bodyPr wrap="square" lIns="0" tIns="0" rIns="0" bIns="0" rtlCol="0" anchor="ctr"/>
          <a:lstStyle/>
          <a:p>
            <a:pPr marL="0" indent="0" algn="ctr">
              <a:buNone/>
            </a:pPr>
            <a:r>
              <a:rPr lang="en-US" sz="1250" dirty="0">
                <a:solidFill>
                  <a:srgbClr val="6B7280"/>
                </a:solidFill>
                <a:latin typeface="Calibri" pitchFamily="34" charset="0"/>
                <a:ea typeface="Calibri" pitchFamily="34" charset="-122"/>
                <a:cs typeface="Calibri" pitchFamily="34" charset="-120"/>
              </a:rPr>
              <a:t>Funding Deals</a:t>
            </a:r>
            <a:endParaRPr lang="en-US" sz="1250" dirty="0"/>
          </a:p>
        </p:txBody>
      </p:sp>
      <p:sp>
        <p:nvSpPr>
          <p:cNvPr id="14" name="Shape 12"/>
          <p:cNvSpPr/>
          <p:nvPr/>
        </p:nvSpPr>
        <p:spPr>
          <a:xfrm>
            <a:off x="8933688" y="3547872"/>
            <a:ext cx="2606040" cy="1554480"/>
          </a:xfrm>
          <a:prstGeom prst="roundRect">
            <a:avLst>
              <a:gd name="adj" fmla="val 4706"/>
            </a:avLst>
          </a:prstGeom>
          <a:solidFill>
            <a:srgbClr val="FDECDD"/>
          </a:solidFill>
          <a:ln/>
          <a:effectLst>
            <a:outerShdw blurRad="101600" dist="25400" dir="5400000" algn="bl" rotWithShape="0">
              <a:srgbClr val="000000">
                <a:alpha val="12000"/>
              </a:srgbClr>
            </a:outerShdw>
          </a:effectLst>
        </p:spPr>
      </p:sp>
      <p:sp>
        <p:nvSpPr>
          <p:cNvPr id="15" name="Text 13"/>
          <p:cNvSpPr/>
          <p:nvPr/>
        </p:nvSpPr>
        <p:spPr>
          <a:xfrm>
            <a:off x="9025128" y="3776472"/>
            <a:ext cx="2423160" cy="640080"/>
          </a:xfrm>
          <a:prstGeom prst="rect">
            <a:avLst/>
          </a:prstGeom>
          <a:noFill/>
          <a:ln/>
        </p:spPr>
        <p:txBody>
          <a:bodyPr wrap="square" lIns="0" tIns="0" rIns="0" bIns="0" rtlCol="0" anchor="ctr"/>
          <a:lstStyle/>
          <a:p>
            <a:pPr marL="0" indent="0" algn="ctr">
              <a:buNone/>
            </a:pPr>
            <a:r>
              <a:rPr lang="en-US" sz="2600" b="1" dirty="0">
                <a:solidFill>
                  <a:srgbClr val="1A2B6D"/>
                </a:solidFill>
                <a:latin typeface="Cambria" pitchFamily="34" charset="0"/>
                <a:ea typeface="Cambria" pitchFamily="34" charset="-122"/>
                <a:cs typeface="Cambria" pitchFamily="34" charset="-120"/>
              </a:rPr>
              <a:t>2015–2020</a:t>
            </a:r>
            <a:endParaRPr lang="en-US" sz="2600" dirty="0"/>
          </a:p>
        </p:txBody>
      </p:sp>
      <p:sp>
        <p:nvSpPr>
          <p:cNvPr id="16" name="Text 14"/>
          <p:cNvSpPr/>
          <p:nvPr/>
        </p:nvSpPr>
        <p:spPr>
          <a:xfrm>
            <a:off x="9025128" y="4462272"/>
            <a:ext cx="2423160" cy="457200"/>
          </a:xfrm>
          <a:prstGeom prst="rect">
            <a:avLst/>
          </a:prstGeom>
          <a:noFill/>
          <a:ln/>
        </p:spPr>
        <p:txBody>
          <a:bodyPr wrap="square" lIns="0" tIns="0" rIns="0" bIns="0" rtlCol="0" anchor="ctr"/>
          <a:lstStyle/>
          <a:p>
            <a:pPr marL="0" indent="0" algn="ctr">
              <a:buNone/>
            </a:pPr>
            <a:r>
              <a:rPr lang="en-US" sz="1250" dirty="0">
                <a:solidFill>
                  <a:srgbClr val="6B7280"/>
                </a:solidFill>
                <a:latin typeface="Calibri" pitchFamily="34" charset="0"/>
                <a:ea typeface="Calibri" pitchFamily="34" charset="-122"/>
                <a:cs typeface="Calibri" pitchFamily="34" charset="-120"/>
              </a:rPr>
              <a:t>Data Coverage</a:t>
            </a:r>
            <a:endParaRPr lang="en-US" sz="1250" dirty="0"/>
          </a:p>
        </p:txBody>
      </p:sp>
      <p:sp>
        <p:nvSpPr>
          <p:cNvPr id="17" name="Text 15"/>
          <p:cNvSpPr/>
          <p:nvPr/>
        </p:nvSpPr>
        <p:spPr>
          <a:xfrm>
            <a:off x="512064" y="5376672"/>
            <a:ext cx="9144000" cy="32004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Source: Indian Startup Funding dataset (Kaggle) — cleaned and standardized for analysis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011572"/>
            <a:ext cx="11064240" cy="685800"/>
          </a:xfrm>
          <a:prstGeom prst="rect">
            <a:avLst/>
          </a:prstGeom>
          <a:noFill/>
          <a:ln/>
        </p:spPr>
        <p:txBody>
          <a:bodyPr wrap="square" lIns="0" tIns="0" rIns="0" bIns="0" rtlCol="0" anchor="ctr"/>
          <a:lstStyle/>
          <a:p>
            <a:pPr marL="0" indent="0">
              <a:buNone/>
            </a:pPr>
            <a:r>
              <a:rPr lang="en-US" sz="3400" b="1" dirty="0">
                <a:solidFill>
                  <a:srgbClr val="1A2B6D"/>
                </a:solidFill>
                <a:latin typeface="Cambria" pitchFamily="34" charset="0"/>
                <a:ea typeface="Cambria" pitchFamily="34" charset="-122"/>
                <a:cs typeface="Cambria" pitchFamily="34" charset="-120"/>
              </a:rPr>
              <a:t>Problem Statement</a:t>
            </a:r>
            <a:endParaRPr lang="en-US" sz="3400" dirty="0"/>
          </a:p>
        </p:txBody>
      </p:sp>
      <p:sp>
        <p:nvSpPr>
          <p:cNvPr id="3" name="Text 1"/>
          <p:cNvSpPr/>
          <p:nvPr/>
        </p:nvSpPr>
        <p:spPr>
          <a:xfrm>
            <a:off x="548640" y="1651652"/>
            <a:ext cx="11064240" cy="36576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Funding data is rich, but hard to access, interpret and compare</a:t>
            </a:r>
            <a:endParaRPr lang="en-US" sz="1500" dirty="0"/>
          </a:p>
        </p:txBody>
      </p:sp>
      <p:sp>
        <p:nvSpPr>
          <p:cNvPr id="4" name="Shape 2"/>
          <p:cNvSpPr/>
          <p:nvPr/>
        </p:nvSpPr>
        <p:spPr>
          <a:xfrm>
            <a:off x="548640" y="2456324"/>
            <a:ext cx="5349240" cy="3931920"/>
          </a:xfrm>
          <a:prstGeom prst="roundRect">
            <a:avLst>
              <a:gd name="adj" fmla="val 1860"/>
            </a:avLst>
          </a:prstGeom>
          <a:solidFill>
            <a:srgbClr val="FDECDD"/>
          </a:solidFill>
          <a:ln/>
          <a:effectLst>
            <a:outerShdw blurRad="101600" dist="25400" dir="5400000" algn="bl" rotWithShape="0">
              <a:srgbClr val="000000">
                <a:alpha val="12000"/>
              </a:srgbClr>
            </a:outerShdw>
          </a:effectLst>
        </p:spPr>
      </p:sp>
      <p:sp>
        <p:nvSpPr>
          <p:cNvPr id="5" name="Shape 3"/>
          <p:cNvSpPr/>
          <p:nvPr/>
        </p:nvSpPr>
        <p:spPr>
          <a:xfrm>
            <a:off x="868680" y="2776364"/>
            <a:ext cx="502920" cy="502920"/>
          </a:xfrm>
          <a:prstGeom prst="ellipse">
            <a:avLst/>
          </a:prstGeom>
          <a:solidFill>
            <a:srgbClr val="D9711A"/>
          </a:solidFill>
          <a:ln/>
        </p:spPr>
      </p:sp>
      <p:sp>
        <p:nvSpPr>
          <p:cNvPr id="6" name="Text 4"/>
          <p:cNvSpPr/>
          <p:nvPr/>
        </p:nvSpPr>
        <p:spPr>
          <a:xfrm>
            <a:off x="868680" y="2776364"/>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868680" y="3416444"/>
            <a:ext cx="4709160" cy="411480"/>
          </a:xfrm>
          <a:prstGeom prst="rect">
            <a:avLst/>
          </a:prstGeom>
          <a:noFill/>
          <a:ln/>
        </p:spPr>
        <p:txBody>
          <a:bodyPr wrap="square" lIns="0" tIns="0" rIns="0" bIns="0" rtlCol="0" anchor="ctr"/>
          <a:lstStyle/>
          <a:p>
            <a:pPr marL="0" indent="0">
              <a:buNone/>
            </a:pPr>
            <a:r>
              <a:rPr lang="en-US" sz="1900" b="1" dirty="0">
                <a:solidFill>
                  <a:srgbClr val="B5441A"/>
                </a:solidFill>
                <a:latin typeface="Cambria" pitchFamily="34" charset="0"/>
                <a:ea typeface="Cambria" pitchFamily="34" charset="-122"/>
                <a:cs typeface="Cambria" pitchFamily="34" charset="-120"/>
              </a:rPr>
              <a:t>The Challenge Today</a:t>
            </a:r>
            <a:endParaRPr lang="en-US" sz="1900" dirty="0"/>
          </a:p>
        </p:txBody>
      </p:sp>
      <p:sp>
        <p:nvSpPr>
          <p:cNvPr id="8" name="Text 6"/>
          <p:cNvSpPr/>
          <p:nvPr/>
        </p:nvSpPr>
        <p:spPr>
          <a:xfrm>
            <a:off x="868680" y="3919364"/>
            <a:ext cx="4709160" cy="2194560"/>
          </a:xfrm>
          <a:prstGeom prst="rect">
            <a:avLst/>
          </a:prstGeom>
          <a:noFill/>
          <a:ln/>
        </p:spPr>
        <p:txBody>
          <a:bodyPr wrap="square" lIns="0" tIns="0" rIns="0" bIns="0" rtlCol="0" anchor="ctr"/>
          <a:lstStyle/>
          <a:p>
            <a:pPr marL="342900" indent="-342900">
              <a:lnSpc>
                <a:spcPct val="115000"/>
              </a:lnSpc>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Raw funding records are messy — inconsistent dates, city names and industry labels</a:t>
            </a:r>
            <a:endParaRPr lang="en-US" sz="1350" dirty="0"/>
          </a:p>
          <a:p>
            <a:pPr marL="342900" indent="-342900">
              <a:lnSpc>
                <a:spcPct val="115000"/>
              </a:lnSpc>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Difficult for founders, investors and researchers to interpret at a glance</a:t>
            </a:r>
            <a:endParaRPr lang="en-US" sz="1350" dirty="0"/>
          </a:p>
          <a:p>
            <a:pPr marL="342900" indent="-342900">
              <a:lnSpc>
                <a:spcPct val="115000"/>
              </a:lnSpc>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No quick way to compare cities, industries or funding trends over time</a:t>
            </a:r>
            <a:endParaRPr lang="en-US" sz="1350" dirty="0"/>
          </a:p>
          <a:p>
            <a:pPr marL="342900" indent="-342900">
              <a:lnSpc>
                <a:spcPct val="115000"/>
              </a:lnSpc>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Manual spreadsheet analysis is slow, error-prone and hard to scale</a:t>
            </a:r>
            <a:endParaRPr lang="en-US" sz="1350" dirty="0"/>
          </a:p>
        </p:txBody>
      </p:sp>
      <p:sp>
        <p:nvSpPr>
          <p:cNvPr id="9" name="Shape 7"/>
          <p:cNvSpPr/>
          <p:nvPr/>
        </p:nvSpPr>
        <p:spPr>
          <a:xfrm>
            <a:off x="6172200" y="2456324"/>
            <a:ext cx="5349240" cy="3931920"/>
          </a:xfrm>
          <a:prstGeom prst="roundRect">
            <a:avLst>
              <a:gd name="adj" fmla="val 1860"/>
            </a:avLst>
          </a:prstGeom>
          <a:solidFill>
            <a:srgbClr val="EAF0FB"/>
          </a:solidFill>
          <a:ln/>
          <a:effectLst>
            <a:outerShdw blurRad="101600" dist="25400" dir="5400000" algn="bl" rotWithShape="0">
              <a:srgbClr val="000000">
                <a:alpha val="12000"/>
              </a:srgbClr>
            </a:outerShdw>
          </a:effectLst>
        </p:spPr>
      </p:sp>
      <p:sp>
        <p:nvSpPr>
          <p:cNvPr id="10" name="Shape 8"/>
          <p:cNvSpPr/>
          <p:nvPr/>
        </p:nvSpPr>
        <p:spPr>
          <a:xfrm>
            <a:off x="6492240" y="2776364"/>
            <a:ext cx="502920" cy="502920"/>
          </a:xfrm>
          <a:prstGeom prst="ellipse">
            <a:avLst/>
          </a:prstGeom>
          <a:solidFill>
            <a:srgbClr val="1A2B6D"/>
          </a:solidFill>
          <a:ln/>
        </p:spPr>
      </p:sp>
      <p:sp>
        <p:nvSpPr>
          <p:cNvPr id="11" name="Text 9"/>
          <p:cNvSpPr/>
          <p:nvPr/>
        </p:nvSpPr>
        <p:spPr>
          <a:xfrm>
            <a:off x="6492240" y="2776364"/>
            <a:ext cx="502920" cy="502920"/>
          </a:xfrm>
          <a:prstGeom prst="rect">
            <a:avLst/>
          </a:prstGeom>
          <a:noFill/>
          <a:ln/>
        </p:spPr>
        <p:txBody>
          <a:bodyPr wrap="square" lIns="0" tIns="0" rIns="0" bIns="0" rtlCol="0" anchor="ctr"/>
          <a:lstStyle/>
          <a:p>
            <a:pPr marL="0" indent="0" algn="ctr">
              <a:buNone/>
            </a:pPr>
            <a:r>
              <a:rPr lang="en-US" sz="2200" b="1" i="1" dirty="0">
                <a:solidFill>
                  <a:srgbClr val="FFFFFF"/>
                </a:solidFill>
                <a:latin typeface="Cambria" pitchFamily="34" charset="0"/>
                <a:ea typeface="Cambria" pitchFamily="34" charset="-122"/>
                <a:cs typeface="Cambria" pitchFamily="34" charset="-120"/>
              </a:rPr>
              <a:t>i</a:t>
            </a:r>
            <a:endParaRPr lang="en-US" sz="2200" dirty="0"/>
          </a:p>
        </p:txBody>
      </p:sp>
      <p:sp>
        <p:nvSpPr>
          <p:cNvPr id="12" name="Text 10"/>
          <p:cNvSpPr/>
          <p:nvPr/>
        </p:nvSpPr>
        <p:spPr>
          <a:xfrm>
            <a:off x="6492240" y="3416444"/>
            <a:ext cx="4709160" cy="411480"/>
          </a:xfrm>
          <a:prstGeom prst="rect">
            <a:avLst/>
          </a:prstGeom>
          <a:noFill/>
          <a:ln/>
        </p:spPr>
        <p:txBody>
          <a:bodyPr wrap="square" lIns="0" tIns="0" rIns="0" bIns="0" rtlCol="0" anchor="ctr"/>
          <a:lstStyle/>
          <a:p>
            <a:pPr marL="0" indent="0">
              <a:buNone/>
            </a:pPr>
            <a:r>
              <a:rPr lang="en-US" sz="1900" b="1" dirty="0">
                <a:solidFill>
                  <a:srgbClr val="1A2B6D"/>
                </a:solidFill>
                <a:latin typeface="Cambria" pitchFamily="34" charset="0"/>
                <a:ea typeface="Cambria" pitchFamily="34" charset="-122"/>
                <a:cs typeface="Cambria" pitchFamily="34" charset="-120"/>
              </a:rPr>
              <a:t>Our Approach</a:t>
            </a:r>
            <a:endParaRPr lang="en-US" sz="1900" dirty="0"/>
          </a:p>
        </p:txBody>
      </p:sp>
      <p:sp>
        <p:nvSpPr>
          <p:cNvPr id="13" name="Text 11"/>
          <p:cNvSpPr/>
          <p:nvPr/>
        </p:nvSpPr>
        <p:spPr>
          <a:xfrm>
            <a:off x="6492240" y="3919364"/>
            <a:ext cx="4709160" cy="2194560"/>
          </a:xfrm>
          <a:prstGeom prst="rect">
            <a:avLst/>
          </a:prstGeom>
          <a:noFill/>
          <a:ln/>
        </p:spPr>
        <p:txBody>
          <a:bodyPr wrap="square" lIns="0" tIns="0" rIns="0" bIns="0" rtlCol="0" anchor="ctr"/>
          <a:lstStyle/>
          <a:p>
            <a:pPr marL="342900" indent="-342900">
              <a:lnSpc>
                <a:spcPct val="115000"/>
              </a:lnSpc>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An interactive platform that turns raw funding data into clean visuals</a:t>
            </a:r>
            <a:endParaRPr lang="en-US" sz="1350" dirty="0"/>
          </a:p>
          <a:p>
            <a:pPr marL="342900" indent="-342900">
              <a:lnSpc>
                <a:spcPct val="115000"/>
              </a:lnSpc>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Makes large, inconsistent datasets easy to understand at a glance</a:t>
            </a:r>
            <a:endParaRPr lang="en-US" sz="1350" dirty="0"/>
          </a:p>
          <a:p>
            <a:pPr marL="342900" indent="-342900">
              <a:lnSpc>
                <a:spcPct val="115000"/>
              </a:lnSpc>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Enables quick comparisons across cities, industries and years</a:t>
            </a:r>
            <a:endParaRPr lang="en-US" sz="1350" dirty="0"/>
          </a:p>
          <a:p>
            <a:pPr marL="342900" indent="-342900">
              <a:lnSpc>
                <a:spcPct val="115000"/>
              </a:lnSpc>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Supports informed, evidence-based investment and research decisions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766536"/>
            <a:ext cx="11064240" cy="685800"/>
          </a:xfrm>
          <a:prstGeom prst="rect">
            <a:avLst/>
          </a:prstGeom>
          <a:noFill/>
          <a:ln/>
        </p:spPr>
        <p:txBody>
          <a:bodyPr wrap="square" lIns="0" tIns="0" rIns="0" bIns="0" rtlCol="0" anchor="ctr"/>
          <a:lstStyle/>
          <a:p>
            <a:pPr marL="0" indent="0">
              <a:buNone/>
            </a:pPr>
            <a:r>
              <a:rPr lang="en-US" sz="3400" b="1" dirty="0">
                <a:solidFill>
                  <a:srgbClr val="1A2B6D"/>
                </a:solidFill>
                <a:latin typeface="Cambria" pitchFamily="34" charset="0"/>
                <a:ea typeface="Cambria" pitchFamily="34" charset="-122"/>
                <a:cs typeface="Cambria" pitchFamily="34" charset="-120"/>
              </a:rPr>
              <a:t>Project Objectives</a:t>
            </a:r>
            <a:endParaRPr lang="en-US" sz="3400" dirty="0"/>
          </a:p>
        </p:txBody>
      </p:sp>
      <p:sp>
        <p:nvSpPr>
          <p:cNvPr id="3" name="Text 1"/>
          <p:cNvSpPr/>
          <p:nvPr/>
        </p:nvSpPr>
        <p:spPr>
          <a:xfrm>
            <a:off x="548640" y="1406616"/>
            <a:ext cx="11064240" cy="36576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What the dashboard is designed to achieve</a:t>
            </a:r>
            <a:endParaRPr lang="en-US" sz="1500" dirty="0"/>
          </a:p>
        </p:txBody>
      </p:sp>
      <p:sp>
        <p:nvSpPr>
          <p:cNvPr id="4" name="Shape 2"/>
          <p:cNvSpPr/>
          <p:nvPr/>
        </p:nvSpPr>
        <p:spPr>
          <a:xfrm>
            <a:off x="640080" y="2211288"/>
            <a:ext cx="512064" cy="512064"/>
          </a:xfrm>
          <a:prstGeom prst="ellipse">
            <a:avLst/>
          </a:prstGeom>
          <a:solidFill>
            <a:srgbClr val="1A2B6D"/>
          </a:solidFill>
          <a:ln/>
        </p:spPr>
      </p:sp>
      <p:sp>
        <p:nvSpPr>
          <p:cNvPr id="5" name="Text 3"/>
          <p:cNvSpPr/>
          <p:nvPr/>
        </p:nvSpPr>
        <p:spPr>
          <a:xfrm>
            <a:off x="640080" y="2211288"/>
            <a:ext cx="512064" cy="51206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6" name="Text 4"/>
          <p:cNvSpPr/>
          <p:nvPr/>
        </p:nvSpPr>
        <p:spPr>
          <a:xfrm>
            <a:off x="1371600" y="2101560"/>
            <a:ext cx="10149840" cy="786384"/>
          </a:xfrm>
          <a:prstGeom prst="rect">
            <a:avLst/>
          </a:prstGeom>
          <a:noFill/>
          <a:ln/>
        </p:spPr>
        <p:txBody>
          <a:bodyPr wrap="square" lIns="0" tIns="0" rIns="0" bIns="0" rtlCol="0" anchor="ctr"/>
          <a:lstStyle/>
          <a:p>
            <a:pPr marL="0" indent="0">
              <a:lnSpc>
                <a:spcPct val="110000"/>
              </a:lnSpc>
              <a:buNone/>
            </a:pPr>
            <a:r>
              <a:rPr lang="en-US" sz="1500" b="1" dirty="0">
                <a:solidFill>
                  <a:srgbClr val="1A2B6D"/>
                </a:solidFill>
                <a:latin typeface="Calibri" pitchFamily="34" charset="0"/>
                <a:ea typeface="Calibri" pitchFamily="34" charset="-122"/>
                <a:cs typeface="Calibri" pitchFamily="34" charset="-120"/>
              </a:rPr>
              <a:t>Interactive Dashboard  —  </a:t>
            </a:r>
            <a:r>
              <a:rPr lang="en-US" sz="1500" dirty="0">
                <a:solidFill>
                  <a:srgbClr val="1F2430"/>
                </a:solidFill>
                <a:latin typeface="Calibri" pitchFamily="34" charset="0"/>
                <a:ea typeface="Calibri" pitchFamily="34" charset="-122"/>
                <a:cs typeface="Calibri" pitchFamily="34" charset="-120"/>
              </a:rPr>
              <a:t>Develop an interactive dashboard built on real-world Indian startup funding data.</a:t>
            </a:r>
            <a:endParaRPr lang="en-US" sz="1500" dirty="0"/>
          </a:p>
        </p:txBody>
      </p:sp>
      <p:sp>
        <p:nvSpPr>
          <p:cNvPr id="7" name="Shape 5"/>
          <p:cNvSpPr/>
          <p:nvPr/>
        </p:nvSpPr>
        <p:spPr>
          <a:xfrm>
            <a:off x="640080" y="3107400"/>
            <a:ext cx="512064" cy="512064"/>
          </a:xfrm>
          <a:prstGeom prst="ellipse">
            <a:avLst/>
          </a:prstGeom>
          <a:solidFill>
            <a:srgbClr val="1A2B6D"/>
          </a:solidFill>
          <a:ln/>
        </p:spPr>
      </p:sp>
      <p:sp>
        <p:nvSpPr>
          <p:cNvPr id="8" name="Text 6"/>
          <p:cNvSpPr/>
          <p:nvPr/>
        </p:nvSpPr>
        <p:spPr>
          <a:xfrm>
            <a:off x="640080" y="3107400"/>
            <a:ext cx="512064" cy="51206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9" name="Text 7"/>
          <p:cNvSpPr/>
          <p:nvPr/>
        </p:nvSpPr>
        <p:spPr>
          <a:xfrm>
            <a:off x="1371600" y="2997672"/>
            <a:ext cx="10149840" cy="786384"/>
          </a:xfrm>
          <a:prstGeom prst="rect">
            <a:avLst/>
          </a:prstGeom>
          <a:noFill/>
          <a:ln/>
        </p:spPr>
        <p:txBody>
          <a:bodyPr wrap="square" lIns="0" tIns="0" rIns="0" bIns="0" rtlCol="0" anchor="ctr"/>
          <a:lstStyle/>
          <a:p>
            <a:pPr marL="0" indent="0">
              <a:lnSpc>
                <a:spcPct val="110000"/>
              </a:lnSpc>
              <a:buNone/>
            </a:pPr>
            <a:r>
              <a:rPr lang="en-US" sz="1500" b="1" dirty="0">
                <a:solidFill>
                  <a:srgbClr val="1A2B6D"/>
                </a:solidFill>
                <a:latin typeface="Calibri" pitchFamily="34" charset="0"/>
                <a:ea typeface="Calibri" pitchFamily="34" charset="-122"/>
                <a:cs typeface="Calibri" pitchFamily="34" charset="-120"/>
              </a:rPr>
              <a:t>Geographic Visualization  —  </a:t>
            </a:r>
            <a:r>
              <a:rPr lang="en-US" sz="1500" dirty="0">
                <a:solidFill>
                  <a:srgbClr val="1F2430"/>
                </a:solidFill>
                <a:latin typeface="Calibri" pitchFamily="34" charset="0"/>
                <a:ea typeface="Calibri" pitchFamily="34" charset="-122"/>
                <a:cs typeface="Calibri" pitchFamily="34" charset="-120"/>
              </a:rPr>
              <a:t>Visualize funding distribution across Indian cities and (where present) international hubs.</a:t>
            </a:r>
            <a:endParaRPr lang="en-US" sz="1500" dirty="0"/>
          </a:p>
        </p:txBody>
      </p:sp>
      <p:sp>
        <p:nvSpPr>
          <p:cNvPr id="10" name="Shape 8"/>
          <p:cNvSpPr/>
          <p:nvPr/>
        </p:nvSpPr>
        <p:spPr>
          <a:xfrm>
            <a:off x="640080" y="4003512"/>
            <a:ext cx="512064" cy="512064"/>
          </a:xfrm>
          <a:prstGeom prst="ellipse">
            <a:avLst/>
          </a:prstGeom>
          <a:solidFill>
            <a:srgbClr val="1A2B6D"/>
          </a:solidFill>
          <a:ln/>
        </p:spPr>
      </p:sp>
      <p:sp>
        <p:nvSpPr>
          <p:cNvPr id="11" name="Text 9"/>
          <p:cNvSpPr/>
          <p:nvPr/>
        </p:nvSpPr>
        <p:spPr>
          <a:xfrm>
            <a:off x="640080" y="4003512"/>
            <a:ext cx="512064" cy="51206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2" name="Text 10"/>
          <p:cNvSpPr/>
          <p:nvPr/>
        </p:nvSpPr>
        <p:spPr>
          <a:xfrm>
            <a:off x="1371600" y="3893784"/>
            <a:ext cx="10149840" cy="786384"/>
          </a:xfrm>
          <a:prstGeom prst="rect">
            <a:avLst/>
          </a:prstGeom>
          <a:noFill/>
          <a:ln/>
        </p:spPr>
        <p:txBody>
          <a:bodyPr wrap="square" lIns="0" tIns="0" rIns="0" bIns="0" rtlCol="0" anchor="ctr"/>
          <a:lstStyle/>
          <a:p>
            <a:pPr marL="0" indent="0">
              <a:lnSpc>
                <a:spcPct val="110000"/>
              </a:lnSpc>
              <a:buNone/>
            </a:pPr>
            <a:r>
              <a:rPr lang="en-US" sz="1500" b="1" dirty="0">
                <a:solidFill>
                  <a:srgbClr val="1A2B6D"/>
                </a:solidFill>
                <a:latin typeface="Calibri" pitchFamily="34" charset="0"/>
                <a:ea typeface="Calibri" pitchFamily="34" charset="-122"/>
                <a:cs typeface="Calibri" pitchFamily="34" charset="-120"/>
              </a:rPr>
              <a:t>Comparative Analysis  —  </a:t>
            </a:r>
            <a:r>
              <a:rPr lang="en-US" sz="1500" dirty="0">
                <a:solidFill>
                  <a:srgbClr val="1F2430"/>
                </a:solidFill>
                <a:latin typeface="Calibri" pitchFamily="34" charset="0"/>
                <a:ea typeface="Calibri" pitchFamily="34" charset="-122"/>
                <a:cs typeface="Calibri" pitchFamily="34" charset="-120"/>
              </a:rPr>
              <a:t>Compare industries, investors and investment types using key indicators.</a:t>
            </a:r>
            <a:endParaRPr lang="en-US" sz="1500" dirty="0"/>
          </a:p>
        </p:txBody>
      </p:sp>
      <p:sp>
        <p:nvSpPr>
          <p:cNvPr id="13" name="Shape 11"/>
          <p:cNvSpPr/>
          <p:nvPr/>
        </p:nvSpPr>
        <p:spPr>
          <a:xfrm>
            <a:off x="640080" y="4899624"/>
            <a:ext cx="512064" cy="512064"/>
          </a:xfrm>
          <a:prstGeom prst="ellipse">
            <a:avLst/>
          </a:prstGeom>
          <a:solidFill>
            <a:srgbClr val="1A2B6D"/>
          </a:solidFill>
          <a:ln/>
        </p:spPr>
      </p:sp>
      <p:sp>
        <p:nvSpPr>
          <p:cNvPr id="14" name="Text 12"/>
          <p:cNvSpPr/>
          <p:nvPr/>
        </p:nvSpPr>
        <p:spPr>
          <a:xfrm>
            <a:off x="640080" y="4899624"/>
            <a:ext cx="512064" cy="51206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5" name="Text 13"/>
          <p:cNvSpPr/>
          <p:nvPr/>
        </p:nvSpPr>
        <p:spPr>
          <a:xfrm>
            <a:off x="1371600" y="4789896"/>
            <a:ext cx="10149840" cy="786384"/>
          </a:xfrm>
          <a:prstGeom prst="rect">
            <a:avLst/>
          </a:prstGeom>
          <a:noFill/>
          <a:ln/>
        </p:spPr>
        <p:txBody>
          <a:bodyPr wrap="square" lIns="0" tIns="0" rIns="0" bIns="0" rtlCol="0" anchor="ctr"/>
          <a:lstStyle/>
          <a:p>
            <a:pPr marL="0" indent="0">
              <a:lnSpc>
                <a:spcPct val="110000"/>
              </a:lnSpc>
              <a:buNone/>
            </a:pPr>
            <a:r>
              <a:rPr lang="en-US" sz="1500" b="1" dirty="0">
                <a:solidFill>
                  <a:srgbClr val="1A2B6D"/>
                </a:solidFill>
                <a:latin typeface="Calibri" pitchFamily="34" charset="0"/>
                <a:ea typeface="Calibri" pitchFamily="34" charset="-122"/>
                <a:cs typeface="Calibri" pitchFamily="34" charset="-120"/>
              </a:rPr>
              <a:t>Trend Analysis  —  </a:t>
            </a:r>
            <a:r>
              <a:rPr lang="en-US" sz="1500" dirty="0">
                <a:solidFill>
                  <a:srgbClr val="1F2430"/>
                </a:solidFill>
                <a:latin typeface="Calibri" pitchFamily="34" charset="0"/>
                <a:ea typeface="Calibri" pitchFamily="34" charset="-122"/>
                <a:cs typeface="Calibri" pitchFamily="34" charset="-120"/>
              </a:rPr>
              <a:t>Present year-over-year funding trends through dynamic, filterable charts.</a:t>
            </a:r>
            <a:endParaRPr lang="en-US" sz="1500" dirty="0"/>
          </a:p>
        </p:txBody>
      </p:sp>
      <p:sp>
        <p:nvSpPr>
          <p:cNvPr id="16" name="Shape 14"/>
          <p:cNvSpPr/>
          <p:nvPr/>
        </p:nvSpPr>
        <p:spPr>
          <a:xfrm>
            <a:off x="640080" y="5795736"/>
            <a:ext cx="512064" cy="512064"/>
          </a:xfrm>
          <a:prstGeom prst="ellipse">
            <a:avLst/>
          </a:prstGeom>
          <a:solidFill>
            <a:srgbClr val="1A2B6D"/>
          </a:solidFill>
          <a:ln/>
        </p:spPr>
      </p:sp>
      <p:sp>
        <p:nvSpPr>
          <p:cNvPr id="17" name="Text 15"/>
          <p:cNvSpPr/>
          <p:nvPr/>
        </p:nvSpPr>
        <p:spPr>
          <a:xfrm>
            <a:off x="640080" y="5795736"/>
            <a:ext cx="512064" cy="51206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18" name="Text 16"/>
          <p:cNvSpPr/>
          <p:nvPr/>
        </p:nvSpPr>
        <p:spPr>
          <a:xfrm>
            <a:off x="1371600" y="5686008"/>
            <a:ext cx="10149840" cy="786384"/>
          </a:xfrm>
          <a:prstGeom prst="rect">
            <a:avLst/>
          </a:prstGeom>
          <a:noFill/>
          <a:ln/>
        </p:spPr>
        <p:txBody>
          <a:bodyPr wrap="square" lIns="0" tIns="0" rIns="0" bIns="0" rtlCol="0" anchor="ctr"/>
          <a:lstStyle/>
          <a:p>
            <a:pPr marL="0" indent="0">
              <a:lnSpc>
                <a:spcPct val="110000"/>
              </a:lnSpc>
              <a:buNone/>
            </a:pPr>
            <a:r>
              <a:rPr lang="en-US" sz="1500" b="1" dirty="0">
                <a:solidFill>
                  <a:srgbClr val="1A2B6D"/>
                </a:solidFill>
                <a:latin typeface="Calibri" pitchFamily="34" charset="0"/>
                <a:ea typeface="Calibri" pitchFamily="34" charset="-122"/>
                <a:cs typeface="Calibri" pitchFamily="34" charset="-120"/>
              </a:rPr>
              <a:t>Pattern Discovery  —  </a:t>
            </a:r>
            <a:r>
              <a:rPr lang="en-US" sz="1500" dirty="0">
                <a:solidFill>
                  <a:srgbClr val="1F2430"/>
                </a:solidFill>
                <a:latin typeface="Calibri" pitchFamily="34" charset="0"/>
                <a:ea typeface="Calibri" pitchFamily="34" charset="-122"/>
                <a:cs typeface="Calibri" pitchFamily="34" charset="-120"/>
              </a:rPr>
              <a:t>Help users spot funding patterns, leading sectors and regional concentration via interactive filters.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963757"/>
            <a:ext cx="11064240" cy="685800"/>
          </a:xfrm>
          <a:prstGeom prst="rect">
            <a:avLst/>
          </a:prstGeom>
          <a:noFill/>
          <a:ln/>
        </p:spPr>
        <p:txBody>
          <a:bodyPr wrap="square" lIns="0" tIns="0" rIns="0" bIns="0" rtlCol="0" anchor="ctr"/>
          <a:lstStyle/>
          <a:p>
            <a:pPr marL="0" indent="0">
              <a:buNone/>
            </a:pPr>
            <a:r>
              <a:rPr lang="en-US" sz="3400" b="1" dirty="0">
                <a:solidFill>
                  <a:srgbClr val="1A2B6D"/>
                </a:solidFill>
                <a:latin typeface="Cambria" pitchFamily="34" charset="0"/>
                <a:ea typeface="Cambria" pitchFamily="34" charset="-122"/>
                <a:cs typeface="Cambria" pitchFamily="34" charset="-120"/>
              </a:rPr>
              <a:t>Dataset Description</a:t>
            </a:r>
            <a:endParaRPr lang="en-US" sz="3400" dirty="0"/>
          </a:p>
        </p:txBody>
      </p:sp>
      <p:sp>
        <p:nvSpPr>
          <p:cNvPr id="3" name="Text 1"/>
          <p:cNvSpPr/>
          <p:nvPr/>
        </p:nvSpPr>
        <p:spPr>
          <a:xfrm>
            <a:off x="548640" y="1603837"/>
            <a:ext cx="11064240" cy="36576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Real-world Indian startup funding data powering the dashboard</a:t>
            </a:r>
            <a:endParaRPr lang="en-US" sz="1500" dirty="0"/>
          </a:p>
        </p:txBody>
      </p:sp>
      <p:sp>
        <p:nvSpPr>
          <p:cNvPr id="4" name="Shape 2"/>
          <p:cNvSpPr/>
          <p:nvPr/>
        </p:nvSpPr>
        <p:spPr>
          <a:xfrm>
            <a:off x="548640" y="2362789"/>
            <a:ext cx="11064240" cy="1051560"/>
          </a:xfrm>
          <a:prstGeom prst="roundRect">
            <a:avLst>
              <a:gd name="adj" fmla="val 6957"/>
            </a:avLst>
          </a:prstGeom>
          <a:solidFill>
            <a:srgbClr val="EAF0FB"/>
          </a:solidFill>
          <a:ln/>
          <a:effectLst>
            <a:outerShdw blurRad="101600" dist="25400" dir="5400000" algn="bl" rotWithShape="0">
              <a:srgbClr val="000000">
                <a:alpha val="12000"/>
              </a:srgbClr>
            </a:outerShdw>
          </a:effectLst>
        </p:spPr>
      </p:sp>
      <p:sp>
        <p:nvSpPr>
          <p:cNvPr id="5" name="Text 3"/>
          <p:cNvSpPr/>
          <p:nvPr/>
        </p:nvSpPr>
        <p:spPr>
          <a:xfrm>
            <a:off x="548640" y="2362789"/>
            <a:ext cx="11064240" cy="1051560"/>
          </a:xfrm>
          <a:prstGeom prst="rect">
            <a:avLst/>
          </a:prstGeom>
          <a:noFill/>
          <a:ln/>
        </p:spPr>
        <p:txBody>
          <a:bodyPr wrap="square" lIns="0" tIns="0" rIns="0" bIns="0" rtlCol="0" anchor="ctr"/>
          <a:lstStyle/>
          <a:p>
            <a:pPr marL="0" indent="0" algn="ctr">
              <a:buNone/>
            </a:pPr>
            <a:r>
              <a:rPr lang="en-US" sz="2600" b="1" i="1" dirty="0">
                <a:solidFill>
                  <a:srgbClr val="1A2B6D"/>
                </a:solidFill>
                <a:latin typeface="Cambria" pitchFamily="34" charset="0"/>
                <a:ea typeface="Cambria" pitchFamily="34" charset="-122"/>
                <a:cs typeface="Cambria" pitchFamily="34" charset="-120"/>
              </a:rPr>
              <a:t>“Indian Startup Funding”</a:t>
            </a:r>
            <a:endParaRPr lang="en-US" sz="2600" dirty="0"/>
          </a:p>
        </p:txBody>
      </p:sp>
      <p:sp>
        <p:nvSpPr>
          <p:cNvPr id="6" name="Text 4"/>
          <p:cNvSpPr/>
          <p:nvPr/>
        </p:nvSpPr>
        <p:spPr>
          <a:xfrm>
            <a:off x="548640" y="3688669"/>
            <a:ext cx="3520440" cy="320040"/>
          </a:xfrm>
          <a:prstGeom prst="rect">
            <a:avLst/>
          </a:prstGeom>
          <a:noFill/>
          <a:ln/>
        </p:spPr>
        <p:txBody>
          <a:bodyPr wrap="square" lIns="0" tIns="0" rIns="0" bIns="0" rtlCol="0" anchor="ctr"/>
          <a:lstStyle/>
          <a:p>
            <a:pPr marL="0" indent="0">
              <a:buNone/>
            </a:pPr>
            <a:r>
              <a:rPr lang="en-US" sz="1200" b="1" kern="0" spc="150" dirty="0">
                <a:solidFill>
                  <a:srgbClr val="D9711A"/>
                </a:solidFill>
                <a:latin typeface="Calibri" pitchFamily="34" charset="0"/>
                <a:ea typeface="Calibri" pitchFamily="34" charset="-122"/>
                <a:cs typeface="Calibri" pitchFamily="34" charset="-120"/>
              </a:rPr>
              <a:t>SOURCE</a:t>
            </a:r>
            <a:endParaRPr lang="en-US" sz="1200" dirty="0"/>
          </a:p>
        </p:txBody>
      </p:sp>
      <p:sp>
        <p:nvSpPr>
          <p:cNvPr id="7" name="Text 5"/>
          <p:cNvSpPr/>
          <p:nvPr/>
        </p:nvSpPr>
        <p:spPr>
          <a:xfrm>
            <a:off x="548640" y="4054429"/>
            <a:ext cx="3520440" cy="457200"/>
          </a:xfrm>
          <a:prstGeom prst="rect">
            <a:avLst/>
          </a:prstGeom>
          <a:noFill/>
          <a:ln/>
        </p:spPr>
        <p:txBody>
          <a:bodyPr wrap="square" lIns="0" tIns="0" rIns="0" bIns="0" rtlCol="0" anchor="ctr"/>
          <a:lstStyle/>
          <a:p>
            <a:pPr marL="0" indent="0">
              <a:buNone/>
            </a:pPr>
            <a:r>
              <a:rPr lang="en-US" sz="1800" b="1" dirty="0">
                <a:solidFill>
                  <a:srgbClr val="1F2430"/>
                </a:solidFill>
                <a:latin typeface="Cambria" pitchFamily="34" charset="0"/>
                <a:ea typeface="Cambria" pitchFamily="34" charset="-122"/>
                <a:cs typeface="Cambria" pitchFamily="34" charset="-120"/>
              </a:rPr>
              <a:t>Kaggle (Public Dataset)</a:t>
            </a:r>
            <a:endParaRPr lang="en-US" sz="1800" dirty="0"/>
          </a:p>
        </p:txBody>
      </p:sp>
      <p:sp>
        <p:nvSpPr>
          <p:cNvPr id="8" name="Text 6"/>
          <p:cNvSpPr/>
          <p:nvPr/>
        </p:nvSpPr>
        <p:spPr>
          <a:xfrm>
            <a:off x="4325112" y="3688669"/>
            <a:ext cx="3520440" cy="320040"/>
          </a:xfrm>
          <a:prstGeom prst="rect">
            <a:avLst/>
          </a:prstGeom>
          <a:noFill/>
          <a:ln/>
        </p:spPr>
        <p:txBody>
          <a:bodyPr wrap="square" lIns="0" tIns="0" rIns="0" bIns="0" rtlCol="0" anchor="ctr"/>
          <a:lstStyle/>
          <a:p>
            <a:pPr marL="0" indent="0">
              <a:buNone/>
            </a:pPr>
            <a:r>
              <a:rPr lang="en-US" sz="1200" b="1" kern="0" spc="150" dirty="0">
                <a:solidFill>
                  <a:srgbClr val="D9711A"/>
                </a:solidFill>
                <a:latin typeface="Calibri" pitchFamily="34" charset="0"/>
                <a:ea typeface="Calibri" pitchFamily="34" charset="-122"/>
                <a:cs typeface="Calibri" pitchFamily="34" charset="-120"/>
              </a:rPr>
              <a:t>COVERAGE</a:t>
            </a:r>
            <a:endParaRPr lang="en-US" sz="1200" dirty="0"/>
          </a:p>
        </p:txBody>
      </p:sp>
      <p:sp>
        <p:nvSpPr>
          <p:cNvPr id="9" name="Text 7"/>
          <p:cNvSpPr/>
          <p:nvPr/>
        </p:nvSpPr>
        <p:spPr>
          <a:xfrm>
            <a:off x="4325112" y="4054429"/>
            <a:ext cx="3520440" cy="457200"/>
          </a:xfrm>
          <a:prstGeom prst="rect">
            <a:avLst/>
          </a:prstGeom>
          <a:noFill/>
          <a:ln/>
        </p:spPr>
        <p:txBody>
          <a:bodyPr wrap="square" lIns="0" tIns="0" rIns="0" bIns="0" rtlCol="0" anchor="ctr"/>
          <a:lstStyle/>
          <a:p>
            <a:pPr marL="0" indent="0">
              <a:buNone/>
            </a:pPr>
            <a:r>
              <a:rPr lang="en-US" sz="1800" b="1" dirty="0">
                <a:solidFill>
                  <a:srgbClr val="1F2430"/>
                </a:solidFill>
                <a:latin typeface="Cambria" pitchFamily="34" charset="0"/>
                <a:ea typeface="Cambria" pitchFamily="34" charset="-122"/>
                <a:cs typeface="Cambria" pitchFamily="34" charset="-120"/>
              </a:rPr>
              <a:t>3,000+ deals, 2015–2020</a:t>
            </a:r>
            <a:endParaRPr lang="en-US" sz="1800" dirty="0"/>
          </a:p>
        </p:txBody>
      </p:sp>
      <p:sp>
        <p:nvSpPr>
          <p:cNvPr id="10" name="Text 8"/>
          <p:cNvSpPr/>
          <p:nvPr/>
        </p:nvSpPr>
        <p:spPr>
          <a:xfrm>
            <a:off x="8101584" y="3688669"/>
            <a:ext cx="3520440" cy="320040"/>
          </a:xfrm>
          <a:prstGeom prst="rect">
            <a:avLst/>
          </a:prstGeom>
          <a:noFill/>
          <a:ln/>
        </p:spPr>
        <p:txBody>
          <a:bodyPr wrap="square" lIns="0" tIns="0" rIns="0" bIns="0" rtlCol="0" anchor="ctr"/>
          <a:lstStyle/>
          <a:p>
            <a:pPr marL="0" indent="0">
              <a:buNone/>
            </a:pPr>
            <a:r>
              <a:rPr lang="en-US" sz="1200" b="1" kern="0" spc="150" dirty="0">
                <a:solidFill>
                  <a:srgbClr val="D9711A"/>
                </a:solidFill>
                <a:latin typeface="Calibri" pitchFamily="34" charset="0"/>
                <a:ea typeface="Calibri" pitchFamily="34" charset="-122"/>
                <a:cs typeface="Calibri" pitchFamily="34" charset="-120"/>
              </a:rPr>
              <a:t>FORMAT</a:t>
            </a:r>
            <a:endParaRPr lang="en-US" sz="1200" dirty="0"/>
          </a:p>
        </p:txBody>
      </p:sp>
      <p:sp>
        <p:nvSpPr>
          <p:cNvPr id="11" name="Text 9"/>
          <p:cNvSpPr/>
          <p:nvPr/>
        </p:nvSpPr>
        <p:spPr>
          <a:xfrm>
            <a:off x="8101584" y="4054429"/>
            <a:ext cx="3520440" cy="457200"/>
          </a:xfrm>
          <a:prstGeom prst="rect">
            <a:avLst/>
          </a:prstGeom>
          <a:noFill/>
          <a:ln/>
        </p:spPr>
        <p:txBody>
          <a:bodyPr wrap="square" lIns="0" tIns="0" rIns="0" bIns="0" rtlCol="0" anchor="ctr"/>
          <a:lstStyle/>
          <a:p>
            <a:pPr marL="0" indent="0">
              <a:buNone/>
            </a:pPr>
            <a:r>
              <a:rPr lang="en-US" sz="1800" b="1" dirty="0">
                <a:solidFill>
                  <a:srgbClr val="1F2430"/>
                </a:solidFill>
                <a:latin typeface="Cambria" pitchFamily="34" charset="0"/>
                <a:ea typeface="Cambria" pitchFamily="34" charset="-122"/>
                <a:cs typeface="Cambria" pitchFamily="34" charset="-120"/>
              </a:rPr>
              <a:t>Raw, unstructured CSV</a:t>
            </a:r>
            <a:endParaRPr lang="en-US" sz="1800" dirty="0"/>
          </a:p>
        </p:txBody>
      </p:sp>
      <p:sp>
        <p:nvSpPr>
          <p:cNvPr id="12" name="Text 10"/>
          <p:cNvSpPr/>
          <p:nvPr/>
        </p:nvSpPr>
        <p:spPr>
          <a:xfrm>
            <a:off x="548640" y="4694509"/>
            <a:ext cx="11064240" cy="1280160"/>
          </a:xfrm>
          <a:prstGeom prst="rect">
            <a:avLst/>
          </a:prstGeom>
          <a:noFill/>
          <a:ln/>
        </p:spPr>
        <p:txBody>
          <a:bodyPr wrap="square" lIns="0" tIns="0" rIns="0" bIns="0" rtlCol="0" anchor="ctr"/>
          <a:lstStyle/>
          <a:p>
            <a:pPr marL="0" indent="0">
              <a:lnSpc>
                <a:spcPct val="130000"/>
              </a:lnSpc>
              <a:buNone/>
            </a:pPr>
            <a:r>
              <a:rPr lang="en-US" sz="1500" dirty="0">
                <a:solidFill>
                  <a:srgbClr val="1F2430"/>
                </a:solidFill>
                <a:latin typeface="Calibri" pitchFamily="34" charset="0"/>
                <a:ea typeface="Calibri" pitchFamily="34" charset="-122"/>
                <a:cs typeface="Calibri" pitchFamily="34" charset="-120"/>
              </a:rPr>
              <a:t>The dataset offers a real-world view of India's startup investment landscape — capturing funding date, startup identity, industry classification, city location, investor names, investment type and funding amount for each recorded deal. Its raw form required substantial cleaning before it could support reliable analysis.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915945"/>
            <a:ext cx="11064240" cy="685800"/>
          </a:xfrm>
          <a:prstGeom prst="rect">
            <a:avLst/>
          </a:prstGeom>
          <a:noFill/>
          <a:ln/>
        </p:spPr>
        <p:txBody>
          <a:bodyPr wrap="square" lIns="0" tIns="0" rIns="0" bIns="0" rtlCol="0" anchor="ctr"/>
          <a:lstStyle/>
          <a:p>
            <a:pPr marL="0" indent="0">
              <a:buNone/>
            </a:pPr>
            <a:r>
              <a:rPr lang="en-US" sz="3400" b="1" dirty="0">
                <a:solidFill>
                  <a:srgbClr val="1A2B6D"/>
                </a:solidFill>
                <a:latin typeface="Cambria" pitchFamily="34" charset="0"/>
                <a:ea typeface="Cambria" pitchFamily="34" charset="-122"/>
                <a:cs typeface="Cambria" pitchFamily="34" charset="-120"/>
              </a:rPr>
              <a:t>Data Cleaning Highlights</a:t>
            </a:r>
            <a:endParaRPr lang="en-US" sz="3400" dirty="0"/>
          </a:p>
        </p:txBody>
      </p:sp>
      <p:sp>
        <p:nvSpPr>
          <p:cNvPr id="3" name="Text 1"/>
          <p:cNvSpPr/>
          <p:nvPr/>
        </p:nvSpPr>
        <p:spPr>
          <a:xfrm>
            <a:off x="548640" y="1556025"/>
            <a:ext cx="11064240" cy="36576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Turning a messy, real-world dataset into an analysis-ready source</a:t>
            </a:r>
            <a:endParaRPr lang="en-US" sz="1500" dirty="0"/>
          </a:p>
        </p:txBody>
      </p:sp>
      <p:sp>
        <p:nvSpPr>
          <p:cNvPr id="4" name="Shape 2"/>
          <p:cNvSpPr/>
          <p:nvPr/>
        </p:nvSpPr>
        <p:spPr>
          <a:xfrm>
            <a:off x="548640" y="2314977"/>
            <a:ext cx="5349240" cy="1783080"/>
          </a:xfrm>
          <a:prstGeom prst="roundRect">
            <a:avLst>
              <a:gd name="adj" fmla="val 4103"/>
            </a:avLst>
          </a:prstGeom>
          <a:solidFill>
            <a:srgbClr val="EAF0FB"/>
          </a:solidFill>
          <a:ln/>
          <a:effectLst>
            <a:outerShdw blurRad="101600" dist="25400" dir="5400000" algn="bl" rotWithShape="0">
              <a:srgbClr val="000000">
                <a:alpha val="12000"/>
              </a:srgbClr>
            </a:outerShdw>
          </a:effectLst>
        </p:spPr>
      </p:sp>
      <p:sp>
        <p:nvSpPr>
          <p:cNvPr id="5" name="Text 3"/>
          <p:cNvSpPr/>
          <p:nvPr/>
        </p:nvSpPr>
        <p:spPr>
          <a:xfrm>
            <a:off x="822960" y="2516145"/>
            <a:ext cx="4800600" cy="365760"/>
          </a:xfrm>
          <a:prstGeom prst="rect">
            <a:avLst/>
          </a:prstGeom>
          <a:noFill/>
          <a:ln/>
        </p:spPr>
        <p:txBody>
          <a:bodyPr wrap="square" lIns="0" tIns="0" rIns="0" bIns="0" rtlCol="0" anchor="ctr"/>
          <a:lstStyle/>
          <a:p>
            <a:pPr marL="0" indent="0">
              <a:buNone/>
            </a:pPr>
            <a:r>
              <a:rPr lang="en-US" sz="1600" b="1" dirty="0">
                <a:solidFill>
                  <a:srgbClr val="1A2B6D"/>
                </a:solidFill>
                <a:latin typeface="Cambria" pitchFamily="34" charset="0"/>
                <a:ea typeface="Cambria" pitchFamily="34" charset="-122"/>
                <a:cs typeface="Cambria" pitchFamily="34" charset="-120"/>
              </a:rPr>
              <a:t>Funding Amount Errors</a:t>
            </a:r>
            <a:endParaRPr lang="en-US" sz="1600" dirty="0"/>
          </a:p>
        </p:txBody>
      </p:sp>
      <p:sp>
        <p:nvSpPr>
          <p:cNvPr id="6" name="Text 4"/>
          <p:cNvSpPr/>
          <p:nvPr/>
        </p:nvSpPr>
        <p:spPr>
          <a:xfrm>
            <a:off x="822960" y="2936769"/>
            <a:ext cx="4800600" cy="960120"/>
          </a:xfrm>
          <a:prstGeom prst="rect">
            <a:avLst/>
          </a:prstGeom>
          <a:noFill/>
          <a:ln/>
        </p:spPr>
        <p:txBody>
          <a:bodyPr wrap="square" lIns="0" tIns="0" rIns="0" bIns="0" rtlCol="0" anchor="ctr"/>
          <a:lstStyle/>
          <a:p>
            <a:pPr marL="0" indent="0">
              <a:lnSpc>
                <a:spcPct val="120000"/>
              </a:lnSpc>
              <a:buNone/>
            </a:pPr>
            <a:r>
              <a:rPr lang="en-US" sz="1300" dirty="0">
                <a:solidFill>
                  <a:srgbClr val="1F2430"/>
                </a:solidFill>
                <a:latin typeface="Calibri" pitchFamily="34" charset="0"/>
                <a:ea typeface="Calibri" pitchFamily="34" charset="-122"/>
                <a:cs typeface="Calibri" pitchFamily="34" charset="-120"/>
              </a:rPr>
              <a:t>Detected and corrected a 1000x data-entry error using outlier analysis and cross-verification.</a:t>
            </a:r>
            <a:endParaRPr lang="en-US" sz="1300" dirty="0"/>
          </a:p>
        </p:txBody>
      </p:sp>
      <p:sp>
        <p:nvSpPr>
          <p:cNvPr id="7" name="Shape 5"/>
          <p:cNvSpPr/>
          <p:nvPr/>
        </p:nvSpPr>
        <p:spPr>
          <a:xfrm>
            <a:off x="6172200" y="2314977"/>
            <a:ext cx="5349240" cy="1783080"/>
          </a:xfrm>
          <a:prstGeom prst="roundRect">
            <a:avLst>
              <a:gd name="adj" fmla="val 4103"/>
            </a:avLst>
          </a:prstGeom>
          <a:solidFill>
            <a:srgbClr val="FDECDD"/>
          </a:solidFill>
          <a:ln/>
          <a:effectLst>
            <a:outerShdw blurRad="101600" dist="25400" dir="5400000" algn="bl" rotWithShape="0">
              <a:srgbClr val="000000">
                <a:alpha val="12000"/>
              </a:srgbClr>
            </a:outerShdw>
          </a:effectLst>
        </p:spPr>
      </p:sp>
      <p:sp>
        <p:nvSpPr>
          <p:cNvPr id="8" name="Text 6"/>
          <p:cNvSpPr/>
          <p:nvPr/>
        </p:nvSpPr>
        <p:spPr>
          <a:xfrm>
            <a:off x="6446520" y="2516145"/>
            <a:ext cx="4800600" cy="365760"/>
          </a:xfrm>
          <a:prstGeom prst="rect">
            <a:avLst/>
          </a:prstGeom>
          <a:noFill/>
          <a:ln/>
        </p:spPr>
        <p:txBody>
          <a:bodyPr wrap="square" lIns="0" tIns="0" rIns="0" bIns="0" rtlCol="0" anchor="ctr"/>
          <a:lstStyle/>
          <a:p>
            <a:pPr marL="0" indent="0">
              <a:buNone/>
            </a:pPr>
            <a:r>
              <a:rPr lang="en-US" sz="1600" b="1" dirty="0">
                <a:solidFill>
                  <a:srgbClr val="1A2B6D"/>
                </a:solidFill>
                <a:latin typeface="Cambria" pitchFamily="34" charset="0"/>
                <a:ea typeface="Cambria" pitchFamily="34" charset="-122"/>
                <a:cs typeface="Cambria" pitchFamily="34" charset="-120"/>
              </a:rPr>
              <a:t>Inconsistent Naming</a:t>
            </a:r>
            <a:endParaRPr lang="en-US" sz="1600" dirty="0"/>
          </a:p>
        </p:txBody>
      </p:sp>
      <p:sp>
        <p:nvSpPr>
          <p:cNvPr id="9" name="Text 7"/>
          <p:cNvSpPr/>
          <p:nvPr/>
        </p:nvSpPr>
        <p:spPr>
          <a:xfrm>
            <a:off x="6446520" y="2936769"/>
            <a:ext cx="4800600" cy="960120"/>
          </a:xfrm>
          <a:prstGeom prst="rect">
            <a:avLst/>
          </a:prstGeom>
          <a:noFill/>
          <a:ln/>
        </p:spPr>
        <p:txBody>
          <a:bodyPr wrap="square" lIns="0" tIns="0" rIns="0" bIns="0" rtlCol="0" anchor="ctr"/>
          <a:lstStyle/>
          <a:p>
            <a:pPr marL="0" indent="0">
              <a:lnSpc>
                <a:spcPct val="120000"/>
              </a:lnSpc>
              <a:buNone/>
            </a:pPr>
            <a:r>
              <a:rPr lang="en-US" sz="1300" dirty="0">
                <a:solidFill>
                  <a:srgbClr val="1F2430"/>
                </a:solidFill>
                <a:latin typeface="Calibri" pitchFamily="34" charset="0"/>
                <a:ea typeface="Calibri" pitchFamily="34" charset="-122"/>
                <a:cs typeface="Calibri" pitchFamily="34" charset="-120"/>
              </a:rPr>
              <a:t>Standardized duplicate startup and city names (e.g. “Flipkart” vs. “Flipkart.com”).</a:t>
            </a:r>
            <a:endParaRPr lang="en-US" sz="1300" dirty="0"/>
          </a:p>
        </p:txBody>
      </p:sp>
      <p:sp>
        <p:nvSpPr>
          <p:cNvPr id="10" name="Shape 8"/>
          <p:cNvSpPr/>
          <p:nvPr/>
        </p:nvSpPr>
        <p:spPr>
          <a:xfrm>
            <a:off x="548640" y="4372377"/>
            <a:ext cx="5349240" cy="1783080"/>
          </a:xfrm>
          <a:prstGeom prst="roundRect">
            <a:avLst>
              <a:gd name="adj" fmla="val 4103"/>
            </a:avLst>
          </a:prstGeom>
          <a:solidFill>
            <a:srgbClr val="EAF0FB"/>
          </a:solidFill>
          <a:ln/>
          <a:effectLst>
            <a:outerShdw blurRad="101600" dist="25400" dir="5400000" algn="bl" rotWithShape="0">
              <a:srgbClr val="000000">
                <a:alpha val="12000"/>
              </a:srgbClr>
            </a:outerShdw>
          </a:effectLst>
        </p:spPr>
      </p:sp>
      <p:sp>
        <p:nvSpPr>
          <p:cNvPr id="11" name="Text 9"/>
          <p:cNvSpPr/>
          <p:nvPr/>
        </p:nvSpPr>
        <p:spPr>
          <a:xfrm>
            <a:off x="822960" y="4573545"/>
            <a:ext cx="4800600" cy="365760"/>
          </a:xfrm>
          <a:prstGeom prst="rect">
            <a:avLst/>
          </a:prstGeom>
          <a:noFill/>
          <a:ln/>
        </p:spPr>
        <p:txBody>
          <a:bodyPr wrap="square" lIns="0" tIns="0" rIns="0" bIns="0" rtlCol="0" anchor="ctr"/>
          <a:lstStyle/>
          <a:p>
            <a:pPr marL="0" indent="0">
              <a:buNone/>
            </a:pPr>
            <a:r>
              <a:rPr lang="en-US" sz="1600" b="1" dirty="0">
                <a:solidFill>
                  <a:srgbClr val="1A2B6D"/>
                </a:solidFill>
                <a:latin typeface="Cambria" pitchFamily="34" charset="0"/>
                <a:ea typeface="Cambria" pitchFamily="34" charset="-122"/>
                <a:cs typeface="Cambria" pitchFamily="34" charset="-120"/>
              </a:rPr>
              <a:t>Messy Date Formats</a:t>
            </a:r>
            <a:endParaRPr lang="en-US" sz="1600" dirty="0"/>
          </a:p>
        </p:txBody>
      </p:sp>
      <p:sp>
        <p:nvSpPr>
          <p:cNvPr id="12" name="Text 10"/>
          <p:cNvSpPr/>
          <p:nvPr/>
        </p:nvSpPr>
        <p:spPr>
          <a:xfrm>
            <a:off x="822960" y="4994169"/>
            <a:ext cx="4800600" cy="960120"/>
          </a:xfrm>
          <a:prstGeom prst="rect">
            <a:avLst/>
          </a:prstGeom>
          <a:noFill/>
          <a:ln/>
        </p:spPr>
        <p:txBody>
          <a:bodyPr wrap="square" lIns="0" tIns="0" rIns="0" bIns="0" rtlCol="0" anchor="ctr"/>
          <a:lstStyle/>
          <a:p>
            <a:pPr marL="0" indent="0">
              <a:lnSpc>
                <a:spcPct val="120000"/>
              </a:lnSpc>
              <a:buNone/>
            </a:pPr>
            <a:r>
              <a:rPr lang="en-US" sz="1300" dirty="0">
                <a:solidFill>
                  <a:srgbClr val="1F2430"/>
                </a:solidFill>
                <a:latin typeface="Calibri" pitchFamily="34" charset="0"/>
                <a:ea typeface="Calibri" pitchFamily="34" charset="-122"/>
                <a:cs typeface="Calibri" pitchFamily="34" charset="-120"/>
              </a:rPr>
              <a:t>Parsed inconsistent date entries and extracted a clean, analyzable Year field.</a:t>
            </a:r>
            <a:endParaRPr lang="en-US" sz="1300" dirty="0"/>
          </a:p>
        </p:txBody>
      </p:sp>
      <p:sp>
        <p:nvSpPr>
          <p:cNvPr id="13" name="Shape 11"/>
          <p:cNvSpPr/>
          <p:nvPr/>
        </p:nvSpPr>
        <p:spPr>
          <a:xfrm>
            <a:off x="6172200" y="4372377"/>
            <a:ext cx="5349240" cy="1783080"/>
          </a:xfrm>
          <a:prstGeom prst="roundRect">
            <a:avLst>
              <a:gd name="adj" fmla="val 4103"/>
            </a:avLst>
          </a:prstGeom>
          <a:solidFill>
            <a:srgbClr val="FDECDD"/>
          </a:solidFill>
          <a:ln/>
          <a:effectLst>
            <a:outerShdw blurRad="101600" dist="25400" dir="5400000" algn="bl" rotWithShape="0">
              <a:srgbClr val="000000">
                <a:alpha val="12000"/>
              </a:srgbClr>
            </a:outerShdw>
          </a:effectLst>
        </p:spPr>
      </p:sp>
      <p:sp>
        <p:nvSpPr>
          <p:cNvPr id="14" name="Text 12"/>
          <p:cNvSpPr/>
          <p:nvPr/>
        </p:nvSpPr>
        <p:spPr>
          <a:xfrm>
            <a:off x="6446520" y="4573545"/>
            <a:ext cx="4800600" cy="365760"/>
          </a:xfrm>
          <a:prstGeom prst="rect">
            <a:avLst/>
          </a:prstGeom>
          <a:noFill/>
          <a:ln/>
        </p:spPr>
        <p:txBody>
          <a:bodyPr wrap="square" lIns="0" tIns="0" rIns="0" bIns="0" rtlCol="0" anchor="ctr"/>
          <a:lstStyle/>
          <a:p>
            <a:pPr marL="0" indent="0">
              <a:buNone/>
            </a:pPr>
            <a:r>
              <a:rPr lang="en-US" sz="1600" b="1" dirty="0">
                <a:solidFill>
                  <a:srgbClr val="1A2B6D"/>
                </a:solidFill>
                <a:latin typeface="Cambria" pitchFamily="34" charset="0"/>
                <a:ea typeface="Cambria" pitchFamily="34" charset="-122"/>
                <a:cs typeface="Cambria" pitchFamily="34" charset="-120"/>
              </a:rPr>
              <a:t>Unstructured Industries</a:t>
            </a:r>
            <a:endParaRPr lang="en-US" sz="1600" dirty="0"/>
          </a:p>
        </p:txBody>
      </p:sp>
      <p:sp>
        <p:nvSpPr>
          <p:cNvPr id="15" name="Text 13"/>
          <p:cNvSpPr/>
          <p:nvPr/>
        </p:nvSpPr>
        <p:spPr>
          <a:xfrm>
            <a:off x="6446520" y="4994169"/>
            <a:ext cx="4800600" cy="960120"/>
          </a:xfrm>
          <a:prstGeom prst="rect">
            <a:avLst/>
          </a:prstGeom>
          <a:noFill/>
          <a:ln/>
        </p:spPr>
        <p:txBody>
          <a:bodyPr wrap="square" lIns="0" tIns="0" rIns="0" bIns="0" rtlCol="0" anchor="ctr"/>
          <a:lstStyle/>
          <a:p>
            <a:pPr marL="0" indent="0">
              <a:lnSpc>
                <a:spcPct val="120000"/>
              </a:lnSpc>
              <a:buNone/>
            </a:pPr>
            <a:r>
              <a:rPr lang="en-US" sz="1300" dirty="0">
                <a:solidFill>
                  <a:srgbClr val="1F2430"/>
                </a:solidFill>
                <a:latin typeface="Calibri" pitchFamily="34" charset="0"/>
                <a:ea typeface="Calibri" pitchFamily="34" charset="-122"/>
                <a:cs typeface="Calibri" pitchFamily="34" charset="-120"/>
              </a:rPr>
              <a:t>Grouped 500+ free-text industry descriptions into 15 broad, comparable categories.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089268"/>
            <a:ext cx="11064240" cy="685800"/>
          </a:xfrm>
          <a:prstGeom prst="rect">
            <a:avLst/>
          </a:prstGeom>
          <a:noFill/>
          <a:ln/>
        </p:spPr>
        <p:txBody>
          <a:bodyPr wrap="square" lIns="0" tIns="0" rIns="0" bIns="0" rtlCol="0" anchor="ctr"/>
          <a:lstStyle/>
          <a:p>
            <a:pPr marL="0" indent="0">
              <a:buNone/>
            </a:pPr>
            <a:r>
              <a:rPr lang="en-US" sz="3400" b="1" dirty="0">
                <a:solidFill>
                  <a:srgbClr val="1A2B6D"/>
                </a:solidFill>
                <a:latin typeface="Cambria" pitchFamily="34" charset="0"/>
                <a:ea typeface="Cambria" pitchFamily="34" charset="-122"/>
                <a:cs typeface="Cambria" pitchFamily="34" charset="-120"/>
              </a:rPr>
              <a:t>Dataset Variables</a:t>
            </a:r>
            <a:endParaRPr lang="en-US" sz="3400" dirty="0"/>
          </a:p>
        </p:txBody>
      </p:sp>
      <p:sp>
        <p:nvSpPr>
          <p:cNvPr id="3" name="Text 1"/>
          <p:cNvSpPr/>
          <p:nvPr/>
        </p:nvSpPr>
        <p:spPr>
          <a:xfrm>
            <a:off x="548640" y="1729348"/>
            <a:ext cx="11064240" cy="36576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Key fields captured for every funding deal, after cleaning</a:t>
            </a:r>
            <a:endParaRPr lang="en-US" sz="1500" dirty="0"/>
          </a:p>
        </p:txBody>
      </p:sp>
      <p:sp>
        <p:nvSpPr>
          <p:cNvPr id="4" name="Shape 2"/>
          <p:cNvSpPr/>
          <p:nvPr/>
        </p:nvSpPr>
        <p:spPr>
          <a:xfrm>
            <a:off x="548640" y="2534020"/>
            <a:ext cx="2606040" cy="1051560"/>
          </a:xfrm>
          <a:prstGeom prst="roundRect">
            <a:avLst>
              <a:gd name="adj" fmla="val 6957"/>
            </a:avLst>
          </a:prstGeom>
          <a:solidFill>
            <a:srgbClr val="EAF0FB"/>
          </a:solidFill>
          <a:ln/>
          <a:effectLst>
            <a:outerShdw blurRad="101600" dist="25400" dir="5400000" algn="bl" rotWithShape="0">
              <a:srgbClr val="000000">
                <a:alpha val="12000"/>
              </a:srgbClr>
            </a:outerShdw>
          </a:effectLst>
        </p:spPr>
      </p:sp>
      <p:sp>
        <p:nvSpPr>
          <p:cNvPr id="5" name="Text 3"/>
          <p:cNvSpPr/>
          <p:nvPr/>
        </p:nvSpPr>
        <p:spPr>
          <a:xfrm>
            <a:off x="685800" y="2534020"/>
            <a:ext cx="2331720" cy="1051560"/>
          </a:xfrm>
          <a:prstGeom prst="rect">
            <a:avLst/>
          </a:prstGeom>
          <a:noFill/>
          <a:ln/>
        </p:spPr>
        <p:txBody>
          <a:bodyPr wrap="square" lIns="0" tIns="0" rIns="0" bIns="0" rtlCol="0" anchor="ctr"/>
          <a:lstStyle/>
          <a:p>
            <a:pPr marL="0" indent="0" algn="l">
              <a:buNone/>
            </a:pPr>
            <a:r>
              <a:rPr lang="en-US" sz="1500" b="1" dirty="0">
                <a:solidFill>
                  <a:srgbClr val="1F2430"/>
                </a:solidFill>
                <a:latin typeface="Calibri" pitchFamily="34" charset="0"/>
                <a:ea typeface="Calibri" pitchFamily="34" charset="-122"/>
                <a:cs typeface="Calibri" pitchFamily="34" charset="-120"/>
              </a:rPr>
              <a:t>Date / Year</a:t>
            </a:r>
            <a:endParaRPr lang="en-US" sz="1500" dirty="0"/>
          </a:p>
        </p:txBody>
      </p:sp>
      <p:sp>
        <p:nvSpPr>
          <p:cNvPr id="6" name="Shape 4"/>
          <p:cNvSpPr/>
          <p:nvPr/>
        </p:nvSpPr>
        <p:spPr>
          <a:xfrm>
            <a:off x="3374136" y="2534020"/>
            <a:ext cx="2606040" cy="1051560"/>
          </a:xfrm>
          <a:prstGeom prst="roundRect">
            <a:avLst>
              <a:gd name="adj" fmla="val 6957"/>
            </a:avLst>
          </a:prstGeom>
          <a:solidFill>
            <a:srgbClr val="FAFAFE"/>
          </a:solidFill>
          <a:ln/>
          <a:effectLst>
            <a:outerShdw blurRad="101600" dist="25400" dir="5400000" algn="bl" rotWithShape="0">
              <a:srgbClr val="000000">
                <a:alpha val="12000"/>
              </a:srgbClr>
            </a:outerShdw>
          </a:effectLst>
        </p:spPr>
      </p:sp>
      <p:sp>
        <p:nvSpPr>
          <p:cNvPr id="7" name="Text 5"/>
          <p:cNvSpPr/>
          <p:nvPr/>
        </p:nvSpPr>
        <p:spPr>
          <a:xfrm>
            <a:off x="3511296" y="2534020"/>
            <a:ext cx="2331720" cy="1051560"/>
          </a:xfrm>
          <a:prstGeom prst="rect">
            <a:avLst/>
          </a:prstGeom>
          <a:noFill/>
          <a:ln/>
        </p:spPr>
        <p:txBody>
          <a:bodyPr wrap="square" lIns="0" tIns="0" rIns="0" bIns="0" rtlCol="0" anchor="ctr"/>
          <a:lstStyle/>
          <a:p>
            <a:pPr marL="0" indent="0" algn="l">
              <a:buNone/>
            </a:pPr>
            <a:r>
              <a:rPr lang="en-US" sz="1500" b="1" dirty="0">
                <a:solidFill>
                  <a:srgbClr val="1F2430"/>
                </a:solidFill>
                <a:latin typeface="Calibri" pitchFamily="34" charset="0"/>
                <a:ea typeface="Calibri" pitchFamily="34" charset="-122"/>
                <a:cs typeface="Calibri" pitchFamily="34" charset="-120"/>
              </a:rPr>
              <a:t>Startup Name</a:t>
            </a:r>
            <a:endParaRPr lang="en-US" sz="1500" dirty="0"/>
          </a:p>
        </p:txBody>
      </p:sp>
      <p:sp>
        <p:nvSpPr>
          <p:cNvPr id="8" name="Shape 6"/>
          <p:cNvSpPr/>
          <p:nvPr/>
        </p:nvSpPr>
        <p:spPr>
          <a:xfrm>
            <a:off x="6199632" y="2534020"/>
            <a:ext cx="2606040" cy="1051560"/>
          </a:xfrm>
          <a:prstGeom prst="roundRect">
            <a:avLst>
              <a:gd name="adj" fmla="val 6957"/>
            </a:avLst>
          </a:prstGeom>
          <a:solidFill>
            <a:srgbClr val="FAFAFE"/>
          </a:solidFill>
          <a:ln/>
          <a:effectLst>
            <a:outerShdw blurRad="101600" dist="25400" dir="5400000" algn="bl" rotWithShape="0">
              <a:srgbClr val="000000">
                <a:alpha val="12000"/>
              </a:srgbClr>
            </a:outerShdw>
          </a:effectLst>
        </p:spPr>
      </p:sp>
      <p:sp>
        <p:nvSpPr>
          <p:cNvPr id="9" name="Text 7"/>
          <p:cNvSpPr/>
          <p:nvPr/>
        </p:nvSpPr>
        <p:spPr>
          <a:xfrm>
            <a:off x="6336792" y="2534020"/>
            <a:ext cx="2331720" cy="1051560"/>
          </a:xfrm>
          <a:prstGeom prst="rect">
            <a:avLst/>
          </a:prstGeom>
          <a:noFill/>
          <a:ln/>
        </p:spPr>
        <p:txBody>
          <a:bodyPr wrap="square" lIns="0" tIns="0" rIns="0" bIns="0" rtlCol="0" anchor="ctr"/>
          <a:lstStyle/>
          <a:p>
            <a:pPr marL="0" indent="0" algn="l">
              <a:buNone/>
            </a:pPr>
            <a:r>
              <a:rPr lang="en-US" sz="1500" b="1" dirty="0">
                <a:solidFill>
                  <a:srgbClr val="1F2430"/>
                </a:solidFill>
                <a:latin typeface="Calibri" pitchFamily="34" charset="0"/>
                <a:ea typeface="Calibri" pitchFamily="34" charset="-122"/>
                <a:cs typeface="Calibri" pitchFamily="34" charset="-120"/>
              </a:rPr>
              <a:t>Industry Vertical</a:t>
            </a:r>
            <a:endParaRPr lang="en-US" sz="1500" dirty="0"/>
          </a:p>
        </p:txBody>
      </p:sp>
      <p:sp>
        <p:nvSpPr>
          <p:cNvPr id="10" name="Shape 8"/>
          <p:cNvSpPr/>
          <p:nvPr/>
        </p:nvSpPr>
        <p:spPr>
          <a:xfrm>
            <a:off x="9025128" y="2534020"/>
            <a:ext cx="2606040" cy="1051560"/>
          </a:xfrm>
          <a:prstGeom prst="roundRect">
            <a:avLst>
              <a:gd name="adj" fmla="val 6957"/>
            </a:avLst>
          </a:prstGeom>
          <a:solidFill>
            <a:srgbClr val="EAF0FB"/>
          </a:solidFill>
          <a:ln/>
          <a:effectLst>
            <a:outerShdw blurRad="101600" dist="25400" dir="5400000" algn="bl" rotWithShape="0">
              <a:srgbClr val="000000">
                <a:alpha val="12000"/>
              </a:srgbClr>
            </a:outerShdw>
          </a:effectLst>
        </p:spPr>
      </p:sp>
      <p:sp>
        <p:nvSpPr>
          <p:cNvPr id="11" name="Text 9"/>
          <p:cNvSpPr/>
          <p:nvPr/>
        </p:nvSpPr>
        <p:spPr>
          <a:xfrm>
            <a:off x="9162288" y="2534020"/>
            <a:ext cx="2331720" cy="1051560"/>
          </a:xfrm>
          <a:prstGeom prst="rect">
            <a:avLst/>
          </a:prstGeom>
          <a:noFill/>
          <a:ln/>
        </p:spPr>
        <p:txBody>
          <a:bodyPr wrap="square" lIns="0" tIns="0" rIns="0" bIns="0" rtlCol="0" anchor="ctr"/>
          <a:lstStyle/>
          <a:p>
            <a:pPr marL="0" indent="0" algn="l">
              <a:buNone/>
            </a:pPr>
            <a:r>
              <a:rPr lang="en-US" sz="1500" b="1" dirty="0">
                <a:solidFill>
                  <a:srgbClr val="1F2430"/>
                </a:solidFill>
                <a:latin typeface="Calibri" pitchFamily="34" charset="0"/>
                <a:ea typeface="Calibri" pitchFamily="34" charset="-122"/>
                <a:cs typeface="Calibri" pitchFamily="34" charset="-120"/>
              </a:rPr>
              <a:t>Industry Category</a:t>
            </a:r>
            <a:endParaRPr lang="en-US" sz="1500" dirty="0"/>
          </a:p>
        </p:txBody>
      </p:sp>
      <p:sp>
        <p:nvSpPr>
          <p:cNvPr id="12" name="Shape 10"/>
          <p:cNvSpPr/>
          <p:nvPr/>
        </p:nvSpPr>
        <p:spPr>
          <a:xfrm>
            <a:off x="548640" y="3805036"/>
            <a:ext cx="2606040" cy="1051560"/>
          </a:xfrm>
          <a:prstGeom prst="roundRect">
            <a:avLst>
              <a:gd name="adj" fmla="val 6957"/>
            </a:avLst>
          </a:prstGeom>
          <a:solidFill>
            <a:srgbClr val="FAFAFE"/>
          </a:solidFill>
          <a:ln/>
          <a:effectLst>
            <a:outerShdw blurRad="101600" dist="25400" dir="5400000" algn="bl" rotWithShape="0">
              <a:srgbClr val="000000">
                <a:alpha val="12000"/>
              </a:srgbClr>
            </a:outerShdw>
          </a:effectLst>
        </p:spPr>
      </p:sp>
      <p:sp>
        <p:nvSpPr>
          <p:cNvPr id="13" name="Text 11"/>
          <p:cNvSpPr/>
          <p:nvPr/>
        </p:nvSpPr>
        <p:spPr>
          <a:xfrm>
            <a:off x="685800" y="3805036"/>
            <a:ext cx="2331720" cy="1051560"/>
          </a:xfrm>
          <a:prstGeom prst="rect">
            <a:avLst/>
          </a:prstGeom>
          <a:noFill/>
          <a:ln/>
        </p:spPr>
        <p:txBody>
          <a:bodyPr wrap="square" lIns="0" tIns="0" rIns="0" bIns="0" rtlCol="0" anchor="ctr"/>
          <a:lstStyle/>
          <a:p>
            <a:pPr marL="0" indent="0" algn="l">
              <a:buNone/>
            </a:pPr>
            <a:r>
              <a:rPr lang="en-US" sz="1500" b="1" dirty="0">
                <a:solidFill>
                  <a:srgbClr val="1F2430"/>
                </a:solidFill>
                <a:latin typeface="Calibri" pitchFamily="34" charset="0"/>
                <a:ea typeface="Calibri" pitchFamily="34" charset="-122"/>
                <a:cs typeface="Calibri" pitchFamily="34" charset="-120"/>
              </a:rPr>
              <a:t>SubVertical</a:t>
            </a:r>
            <a:endParaRPr lang="en-US" sz="1500" dirty="0"/>
          </a:p>
        </p:txBody>
      </p:sp>
      <p:sp>
        <p:nvSpPr>
          <p:cNvPr id="14" name="Shape 12"/>
          <p:cNvSpPr/>
          <p:nvPr/>
        </p:nvSpPr>
        <p:spPr>
          <a:xfrm>
            <a:off x="3374136" y="3805036"/>
            <a:ext cx="2606040" cy="1051560"/>
          </a:xfrm>
          <a:prstGeom prst="roundRect">
            <a:avLst>
              <a:gd name="adj" fmla="val 6957"/>
            </a:avLst>
          </a:prstGeom>
          <a:solidFill>
            <a:srgbClr val="FAFAFE"/>
          </a:solidFill>
          <a:ln/>
          <a:effectLst>
            <a:outerShdw blurRad="101600" dist="25400" dir="5400000" algn="bl" rotWithShape="0">
              <a:srgbClr val="000000">
                <a:alpha val="12000"/>
              </a:srgbClr>
            </a:outerShdw>
          </a:effectLst>
        </p:spPr>
      </p:sp>
      <p:sp>
        <p:nvSpPr>
          <p:cNvPr id="15" name="Text 13"/>
          <p:cNvSpPr/>
          <p:nvPr/>
        </p:nvSpPr>
        <p:spPr>
          <a:xfrm>
            <a:off x="3511296" y="3805036"/>
            <a:ext cx="2331720" cy="1051560"/>
          </a:xfrm>
          <a:prstGeom prst="rect">
            <a:avLst/>
          </a:prstGeom>
          <a:noFill/>
          <a:ln/>
        </p:spPr>
        <p:txBody>
          <a:bodyPr wrap="square" lIns="0" tIns="0" rIns="0" bIns="0" rtlCol="0" anchor="ctr"/>
          <a:lstStyle/>
          <a:p>
            <a:pPr marL="0" indent="0" algn="l">
              <a:buNone/>
            </a:pPr>
            <a:r>
              <a:rPr lang="en-US" sz="1500" b="1" dirty="0">
                <a:solidFill>
                  <a:srgbClr val="1F2430"/>
                </a:solidFill>
                <a:latin typeface="Calibri" pitchFamily="34" charset="0"/>
                <a:ea typeface="Calibri" pitchFamily="34" charset="-122"/>
                <a:cs typeface="Calibri" pitchFamily="34" charset="-120"/>
              </a:rPr>
              <a:t>City Location</a:t>
            </a:r>
            <a:endParaRPr lang="en-US" sz="1500" dirty="0"/>
          </a:p>
        </p:txBody>
      </p:sp>
      <p:sp>
        <p:nvSpPr>
          <p:cNvPr id="16" name="Shape 14"/>
          <p:cNvSpPr/>
          <p:nvPr/>
        </p:nvSpPr>
        <p:spPr>
          <a:xfrm>
            <a:off x="6199632" y="3805036"/>
            <a:ext cx="2606040" cy="1051560"/>
          </a:xfrm>
          <a:prstGeom prst="roundRect">
            <a:avLst>
              <a:gd name="adj" fmla="val 6957"/>
            </a:avLst>
          </a:prstGeom>
          <a:solidFill>
            <a:srgbClr val="EAF0FB"/>
          </a:solidFill>
          <a:ln/>
          <a:effectLst>
            <a:outerShdw blurRad="101600" dist="25400" dir="5400000" algn="bl" rotWithShape="0">
              <a:srgbClr val="000000">
                <a:alpha val="12000"/>
              </a:srgbClr>
            </a:outerShdw>
          </a:effectLst>
        </p:spPr>
      </p:sp>
      <p:sp>
        <p:nvSpPr>
          <p:cNvPr id="17" name="Text 15"/>
          <p:cNvSpPr/>
          <p:nvPr/>
        </p:nvSpPr>
        <p:spPr>
          <a:xfrm>
            <a:off x="6336792" y="3805036"/>
            <a:ext cx="2331720" cy="1051560"/>
          </a:xfrm>
          <a:prstGeom prst="rect">
            <a:avLst/>
          </a:prstGeom>
          <a:noFill/>
          <a:ln/>
        </p:spPr>
        <p:txBody>
          <a:bodyPr wrap="square" lIns="0" tIns="0" rIns="0" bIns="0" rtlCol="0" anchor="ctr"/>
          <a:lstStyle/>
          <a:p>
            <a:pPr marL="0" indent="0" algn="l">
              <a:buNone/>
            </a:pPr>
            <a:r>
              <a:rPr lang="en-US" sz="1500" b="1" dirty="0">
                <a:solidFill>
                  <a:srgbClr val="1F2430"/>
                </a:solidFill>
                <a:latin typeface="Calibri" pitchFamily="34" charset="0"/>
                <a:ea typeface="Calibri" pitchFamily="34" charset="-122"/>
                <a:cs typeface="Calibri" pitchFamily="34" charset="-120"/>
              </a:rPr>
              <a:t>Investors Name</a:t>
            </a:r>
            <a:endParaRPr lang="en-US" sz="1500" dirty="0"/>
          </a:p>
        </p:txBody>
      </p:sp>
      <p:sp>
        <p:nvSpPr>
          <p:cNvPr id="18" name="Shape 16"/>
          <p:cNvSpPr/>
          <p:nvPr/>
        </p:nvSpPr>
        <p:spPr>
          <a:xfrm>
            <a:off x="9025128" y="3805036"/>
            <a:ext cx="2606040" cy="1051560"/>
          </a:xfrm>
          <a:prstGeom prst="roundRect">
            <a:avLst>
              <a:gd name="adj" fmla="val 6957"/>
            </a:avLst>
          </a:prstGeom>
          <a:solidFill>
            <a:srgbClr val="FAFAFE"/>
          </a:solidFill>
          <a:ln/>
          <a:effectLst>
            <a:outerShdw blurRad="101600" dist="25400" dir="5400000" algn="bl" rotWithShape="0">
              <a:srgbClr val="000000">
                <a:alpha val="12000"/>
              </a:srgbClr>
            </a:outerShdw>
          </a:effectLst>
        </p:spPr>
      </p:sp>
      <p:sp>
        <p:nvSpPr>
          <p:cNvPr id="19" name="Text 17"/>
          <p:cNvSpPr/>
          <p:nvPr/>
        </p:nvSpPr>
        <p:spPr>
          <a:xfrm>
            <a:off x="9162288" y="3805036"/>
            <a:ext cx="2331720" cy="1051560"/>
          </a:xfrm>
          <a:prstGeom prst="rect">
            <a:avLst/>
          </a:prstGeom>
          <a:noFill/>
          <a:ln/>
        </p:spPr>
        <p:txBody>
          <a:bodyPr wrap="square" lIns="0" tIns="0" rIns="0" bIns="0" rtlCol="0" anchor="ctr"/>
          <a:lstStyle/>
          <a:p>
            <a:pPr marL="0" indent="0" algn="l">
              <a:buNone/>
            </a:pPr>
            <a:r>
              <a:rPr lang="en-US" sz="1500" b="1" dirty="0">
                <a:solidFill>
                  <a:srgbClr val="1F2430"/>
                </a:solidFill>
                <a:latin typeface="Calibri" pitchFamily="34" charset="0"/>
                <a:ea typeface="Calibri" pitchFamily="34" charset="-122"/>
                <a:cs typeface="Calibri" pitchFamily="34" charset="-120"/>
              </a:rPr>
              <a:t>Investment Type</a:t>
            </a:r>
            <a:endParaRPr lang="en-US" sz="1500" dirty="0"/>
          </a:p>
        </p:txBody>
      </p:sp>
      <p:sp>
        <p:nvSpPr>
          <p:cNvPr id="20" name="Shape 18"/>
          <p:cNvSpPr/>
          <p:nvPr/>
        </p:nvSpPr>
        <p:spPr>
          <a:xfrm>
            <a:off x="548640" y="5076052"/>
            <a:ext cx="2606040" cy="1051560"/>
          </a:xfrm>
          <a:prstGeom prst="roundRect">
            <a:avLst>
              <a:gd name="adj" fmla="val 6957"/>
            </a:avLst>
          </a:prstGeom>
          <a:solidFill>
            <a:srgbClr val="FAFAFE"/>
          </a:solidFill>
          <a:ln/>
          <a:effectLst>
            <a:outerShdw blurRad="101600" dist="25400" dir="5400000" algn="bl" rotWithShape="0">
              <a:srgbClr val="000000">
                <a:alpha val="12000"/>
              </a:srgbClr>
            </a:outerShdw>
          </a:effectLst>
        </p:spPr>
      </p:sp>
      <p:sp>
        <p:nvSpPr>
          <p:cNvPr id="21" name="Text 19"/>
          <p:cNvSpPr/>
          <p:nvPr/>
        </p:nvSpPr>
        <p:spPr>
          <a:xfrm>
            <a:off x="685800" y="5076052"/>
            <a:ext cx="2331720" cy="1051560"/>
          </a:xfrm>
          <a:prstGeom prst="rect">
            <a:avLst/>
          </a:prstGeom>
          <a:noFill/>
          <a:ln/>
        </p:spPr>
        <p:txBody>
          <a:bodyPr wrap="square" lIns="0" tIns="0" rIns="0" bIns="0" rtlCol="0" anchor="ctr"/>
          <a:lstStyle/>
          <a:p>
            <a:pPr marL="0" indent="0" algn="l">
              <a:buNone/>
            </a:pPr>
            <a:r>
              <a:rPr lang="en-US" sz="1500" b="1" dirty="0">
                <a:solidFill>
                  <a:srgbClr val="1F2430"/>
                </a:solidFill>
                <a:latin typeface="Calibri" pitchFamily="34" charset="0"/>
                <a:ea typeface="Calibri" pitchFamily="34" charset="-122"/>
                <a:cs typeface="Calibri" pitchFamily="34" charset="-120"/>
              </a:rPr>
              <a:t>Amount (USD)</a:t>
            </a:r>
            <a:endParaRPr lang="en-US" sz="1500" dirty="0"/>
          </a:p>
        </p:txBody>
      </p:sp>
      <p:sp>
        <p:nvSpPr>
          <p:cNvPr id="22" name="Shape 20"/>
          <p:cNvSpPr/>
          <p:nvPr/>
        </p:nvSpPr>
        <p:spPr>
          <a:xfrm>
            <a:off x="3374136" y="5076052"/>
            <a:ext cx="2606040" cy="1051560"/>
          </a:xfrm>
          <a:prstGeom prst="roundRect">
            <a:avLst>
              <a:gd name="adj" fmla="val 6957"/>
            </a:avLst>
          </a:prstGeom>
          <a:solidFill>
            <a:srgbClr val="EAF0FB"/>
          </a:solidFill>
          <a:ln/>
          <a:effectLst>
            <a:outerShdw blurRad="101600" dist="25400" dir="5400000" algn="bl" rotWithShape="0">
              <a:srgbClr val="000000">
                <a:alpha val="12000"/>
              </a:srgbClr>
            </a:outerShdw>
          </a:effectLst>
        </p:spPr>
      </p:sp>
      <p:sp>
        <p:nvSpPr>
          <p:cNvPr id="23" name="Text 21"/>
          <p:cNvSpPr/>
          <p:nvPr/>
        </p:nvSpPr>
        <p:spPr>
          <a:xfrm>
            <a:off x="3511296" y="5076052"/>
            <a:ext cx="2331720" cy="1051560"/>
          </a:xfrm>
          <a:prstGeom prst="rect">
            <a:avLst/>
          </a:prstGeom>
          <a:noFill/>
          <a:ln/>
        </p:spPr>
        <p:txBody>
          <a:bodyPr wrap="square" lIns="0" tIns="0" rIns="0" bIns="0" rtlCol="0" anchor="ctr"/>
          <a:lstStyle/>
          <a:p>
            <a:pPr marL="0" indent="0" algn="l">
              <a:buNone/>
            </a:pPr>
            <a:r>
              <a:rPr lang="en-US" sz="1500" b="1" dirty="0">
                <a:solidFill>
                  <a:srgbClr val="1F2430"/>
                </a:solidFill>
                <a:latin typeface="Calibri" pitchFamily="34" charset="0"/>
                <a:ea typeface="Calibri" pitchFamily="34" charset="-122"/>
                <a:cs typeface="Calibri" pitchFamily="34" charset="-120"/>
              </a:rPr>
              <a:t>Country</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6804" y="1188720"/>
            <a:ext cx="11064240" cy="685800"/>
          </a:xfrm>
          <a:prstGeom prst="rect">
            <a:avLst/>
          </a:prstGeom>
          <a:noFill/>
          <a:ln/>
        </p:spPr>
        <p:txBody>
          <a:bodyPr wrap="square" lIns="0" tIns="0" rIns="0" bIns="0" rtlCol="0" anchor="ctr"/>
          <a:lstStyle/>
          <a:p>
            <a:pPr marL="0" indent="0">
              <a:buNone/>
            </a:pPr>
            <a:r>
              <a:rPr lang="en-US" sz="3400" b="1" dirty="0">
                <a:solidFill>
                  <a:srgbClr val="1A2B6D"/>
                </a:solidFill>
                <a:latin typeface="Cambria" pitchFamily="34" charset="0"/>
                <a:ea typeface="Cambria" pitchFamily="34" charset="-122"/>
                <a:cs typeface="Cambria" pitchFamily="34" charset="-120"/>
              </a:rPr>
              <a:t>Dashboard Feature: KPI Cards</a:t>
            </a:r>
            <a:endParaRPr lang="en-US" sz="3400" dirty="0"/>
          </a:p>
        </p:txBody>
      </p:sp>
      <p:sp>
        <p:nvSpPr>
          <p:cNvPr id="3" name="Text 1"/>
          <p:cNvSpPr/>
          <p:nvPr/>
        </p:nvSpPr>
        <p:spPr>
          <a:xfrm>
            <a:off x="506804" y="1828800"/>
            <a:ext cx="11064240" cy="36576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At-a-glance summary metrics shown at the top of the dashboard</a:t>
            </a:r>
            <a:endParaRPr lang="en-US" sz="1500" dirty="0"/>
          </a:p>
        </p:txBody>
      </p:sp>
      <p:sp>
        <p:nvSpPr>
          <p:cNvPr id="4" name="Shape 2"/>
          <p:cNvSpPr/>
          <p:nvPr/>
        </p:nvSpPr>
        <p:spPr>
          <a:xfrm>
            <a:off x="750492" y="2999232"/>
            <a:ext cx="3291840" cy="2103120"/>
          </a:xfrm>
          <a:prstGeom prst="roundRect">
            <a:avLst>
              <a:gd name="adj" fmla="val 3478"/>
            </a:avLst>
          </a:prstGeom>
          <a:solidFill>
            <a:srgbClr val="EAF0FB"/>
          </a:solidFill>
          <a:ln/>
          <a:effectLst>
            <a:outerShdw blurRad="101600" dist="25400" dir="5400000" algn="bl" rotWithShape="0">
              <a:srgbClr val="000000">
                <a:alpha val="12000"/>
              </a:srgbClr>
            </a:outerShdw>
          </a:effectLst>
        </p:spPr>
      </p:sp>
      <p:sp>
        <p:nvSpPr>
          <p:cNvPr id="5" name="Text 3"/>
          <p:cNvSpPr/>
          <p:nvPr/>
        </p:nvSpPr>
        <p:spPr>
          <a:xfrm>
            <a:off x="933372" y="3502152"/>
            <a:ext cx="2926080" cy="822960"/>
          </a:xfrm>
          <a:prstGeom prst="rect">
            <a:avLst/>
          </a:prstGeom>
          <a:noFill/>
          <a:ln/>
        </p:spPr>
        <p:txBody>
          <a:bodyPr wrap="square" lIns="0" tIns="0" rIns="0" bIns="0" rtlCol="0" anchor="ctr"/>
          <a:lstStyle/>
          <a:p>
            <a:pPr marL="0" indent="0" algn="ctr">
              <a:buNone/>
            </a:pPr>
            <a:r>
              <a:rPr lang="en-US" sz="3200" b="1" dirty="0">
                <a:solidFill>
                  <a:srgbClr val="1A2B6D"/>
                </a:solidFill>
                <a:latin typeface="Cambria" pitchFamily="34" charset="0"/>
                <a:ea typeface="Cambria" pitchFamily="34" charset="-122"/>
                <a:cs typeface="Cambria" pitchFamily="34" charset="-120"/>
              </a:rPr>
              <a:t>$32.9B</a:t>
            </a:r>
            <a:endParaRPr lang="en-US" sz="3200" dirty="0"/>
          </a:p>
        </p:txBody>
      </p:sp>
      <p:sp>
        <p:nvSpPr>
          <p:cNvPr id="6" name="Text 4"/>
          <p:cNvSpPr/>
          <p:nvPr/>
        </p:nvSpPr>
        <p:spPr>
          <a:xfrm>
            <a:off x="933372" y="4370832"/>
            <a:ext cx="2926080" cy="502920"/>
          </a:xfrm>
          <a:prstGeom prst="rect">
            <a:avLst/>
          </a:prstGeom>
          <a:noFill/>
          <a:ln/>
        </p:spPr>
        <p:txBody>
          <a:bodyPr wrap="square" lIns="0" tIns="0" rIns="0" bIns="0" rtlCol="0" anchor="ctr"/>
          <a:lstStyle/>
          <a:p>
            <a:pPr marL="0" indent="0" algn="ctr">
              <a:buNone/>
            </a:pPr>
            <a:r>
              <a:rPr lang="en-US" sz="1400" b="1" dirty="0">
                <a:solidFill>
                  <a:srgbClr val="6B7280"/>
                </a:solidFill>
                <a:latin typeface="Calibri" pitchFamily="34" charset="0"/>
                <a:ea typeface="Calibri" pitchFamily="34" charset="-122"/>
                <a:cs typeface="Calibri" pitchFamily="34" charset="-120"/>
              </a:rPr>
              <a:t>Total Funding</a:t>
            </a:r>
            <a:endParaRPr lang="en-US" sz="1400" dirty="0"/>
          </a:p>
        </p:txBody>
      </p:sp>
      <p:sp>
        <p:nvSpPr>
          <p:cNvPr id="7" name="Shape 5"/>
          <p:cNvSpPr/>
          <p:nvPr/>
        </p:nvSpPr>
        <p:spPr>
          <a:xfrm>
            <a:off x="4408092" y="2999232"/>
            <a:ext cx="3291840" cy="2103120"/>
          </a:xfrm>
          <a:prstGeom prst="roundRect">
            <a:avLst>
              <a:gd name="adj" fmla="val 3478"/>
            </a:avLst>
          </a:prstGeom>
          <a:solidFill>
            <a:srgbClr val="1A2B6D"/>
          </a:solidFill>
          <a:ln/>
          <a:effectLst>
            <a:outerShdw blurRad="101600" dist="25400" dir="5400000" algn="bl" rotWithShape="0">
              <a:srgbClr val="000000">
                <a:alpha val="12000"/>
              </a:srgbClr>
            </a:outerShdw>
          </a:effectLst>
        </p:spPr>
      </p:sp>
      <p:sp>
        <p:nvSpPr>
          <p:cNvPr id="8" name="Text 6"/>
          <p:cNvSpPr/>
          <p:nvPr/>
        </p:nvSpPr>
        <p:spPr>
          <a:xfrm>
            <a:off x="4590972" y="3502152"/>
            <a:ext cx="2926080" cy="82296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2,138</a:t>
            </a:r>
            <a:endParaRPr lang="en-US" sz="3200" dirty="0"/>
          </a:p>
        </p:txBody>
      </p:sp>
      <p:sp>
        <p:nvSpPr>
          <p:cNvPr id="9" name="Text 7"/>
          <p:cNvSpPr/>
          <p:nvPr/>
        </p:nvSpPr>
        <p:spPr>
          <a:xfrm>
            <a:off x="4590972" y="4370832"/>
            <a:ext cx="2926080" cy="502920"/>
          </a:xfrm>
          <a:prstGeom prst="rect">
            <a:avLst/>
          </a:prstGeom>
          <a:noFill/>
          <a:ln/>
        </p:spPr>
        <p:txBody>
          <a:bodyPr wrap="square" lIns="0" tIns="0" rIns="0" bIns="0" rtlCol="0" anchor="ctr"/>
          <a:lstStyle/>
          <a:p>
            <a:pPr marL="0" indent="0" algn="ctr">
              <a:buNone/>
            </a:pPr>
            <a:r>
              <a:rPr lang="en-US" sz="1400" b="1" dirty="0">
                <a:solidFill>
                  <a:srgbClr val="C7CEE8"/>
                </a:solidFill>
                <a:latin typeface="Calibri" pitchFamily="34" charset="0"/>
                <a:ea typeface="Calibri" pitchFamily="34" charset="-122"/>
                <a:cs typeface="Calibri" pitchFamily="34" charset="-120"/>
              </a:rPr>
              <a:t>Total Startups Funded</a:t>
            </a:r>
            <a:endParaRPr lang="en-US" sz="1400" dirty="0"/>
          </a:p>
        </p:txBody>
      </p:sp>
      <p:sp>
        <p:nvSpPr>
          <p:cNvPr id="10" name="Shape 8"/>
          <p:cNvSpPr/>
          <p:nvPr/>
        </p:nvSpPr>
        <p:spPr>
          <a:xfrm>
            <a:off x="8065692" y="2999232"/>
            <a:ext cx="3291840" cy="2103120"/>
          </a:xfrm>
          <a:prstGeom prst="roundRect">
            <a:avLst>
              <a:gd name="adj" fmla="val 3478"/>
            </a:avLst>
          </a:prstGeom>
          <a:solidFill>
            <a:srgbClr val="EAF0FB"/>
          </a:solidFill>
          <a:ln/>
          <a:effectLst>
            <a:outerShdw blurRad="101600" dist="25400" dir="5400000" algn="bl" rotWithShape="0">
              <a:srgbClr val="000000">
                <a:alpha val="12000"/>
              </a:srgbClr>
            </a:outerShdw>
          </a:effectLst>
        </p:spPr>
      </p:sp>
      <p:sp>
        <p:nvSpPr>
          <p:cNvPr id="11" name="Text 9"/>
          <p:cNvSpPr/>
          <p:nvPr/>
        </p:nvSpPr>
        <p:spPr>
          <a:xfrm>
            <a:off x="8248572" y="3502152"/>
            <a:ext cx="2926080" cy="822960"/>
          </a:xfrm>
          <a:prstGeom prst="rect">
            <a:avLst/>
          </a:prstGeom>
          <a:noFill/>
          <a:ln/>
        </p:spPr>
        <p:txBody>
          <a:bodyPr wrap="square" lIns="0" tIns="0" rIns="0" bIns="0" rtlCol="0" anchor="ctr"/>
          <a:lstStyle/>
          <a:p>
            <a:pPr marL="0" indent="0" algn="ctr">
              <a:buNone/>
            </a:pPr>
            <a:r>
              <a:rPr lang="en-US" sz="3200" b="1" dirty="0">
                <a:solidFill>
                  <a:srgbClr val="1A2B6D"/>
                </a:solidFill>
                <a:latin typeface="Cambria" pitchFamily="34" charset="0"/>
                <a:ea typeface="Cambria" pitchFamily="34" charset="-122"/>
                <a:cs typeface="Cambria" pitchFamily="34" charset="-120"/>
              </a:rPr>
              <a:t>3,044+</a:t>
            </a:r>
            <a:endParaRPr lang="en-US" sz="3200" dirty="0"/>
          </a:p>
        </p:txBody>
      </p:sp>
      <p:sp>
        <p:nvSpPr>
          <p:cNvPr id="12" name="Text 10"/>
          <p:cNvSpPr/>
          <p:nvPr/>
        </p:nvSpPr>
        <p:spPr>
          <a:xfrm>
            <a:off x="8248572" y="4370832"/>
            <a:ext cx="2926080" cy="502920"/>
          </a:xfrm>
          <a:prstGeom prst="rect">
            <a:avLst/>
          </a:prstGeom>
          <a:noFill/>
          <a:ln/>
        </p:spPr>
        <p:txBody>
          <a:bodyPr wrap="square" lIns="0" tIns="0" rIns="0" bIns="0" rtlCol="0" anchor="ctr"/>
          <a:lstStyle/>
          <a:p>
            <a:pPr marL="0" indent="0" algn="ctr">
              <a:buNone/>
            </a:pPr>
            <a:r>
              <a:rPr lang="en-US" sz="1400" b="1" dirty="0">
                <a:solidFill>
                  <a:srgbClr val="6B7280"/>
                </a:solidFill>
                <a:latin typeface="Calibri" pitchFamily="34" charset="0"/>
                <a:ea typeface="Calibri" pitchFamily="34" charset="-122"/>
                <a:cs typeface="Calibri" pitchFamily="34" charset="-120"/>
              </a:rPr>
              <a:t>Total Funding Deals</a:t>
            </a:r>
            <a:endParaRPr lang="en-US" sz="1400" dirty="0"/>
          </a:p>
        </p:txBody>
      </p:sp>
      <p:sp>
        <p:nvSpPr>
          <p:cNvPr id="13" name="Text 11"/>
          <p:cNvSpPr/>
          <p:nvPr/>
        </p:nvSpPr>
        <p:spPr>
          <a:xfrm>
            <a:off x="506804" y="5559552"/>
            <a:ext cx="11064240" cy="365760"/>
          </a:xfrm>
          <a:prstGeom prst="rect">
            <a:avLst/>
          </a:prstGeom>
          <a:noFill/>
          <a:ln/>
        </p:spPr>
        <p:txBody>
          <a:bodyPr wrap="square" lIns="0" tIns="0" rIns="0" bIns="0" rtlCol="0" anchor="ctr"/>
          <a:lstStyle/>
          <a:p>
            <a:pPr marL="0" indent="0" algn="ctr">
              <a:buNone/>
            </a:pPr>
            <a:r>
              <a:rPr lang="en-US" sz="1300" i="1" dirty="0">
                <a:solidFill>
                  <a:srgbClr val="6B7280"/>
                </a:solidFill>
                <a:latin typeface="Calibri" pitchFamily="34" charset="0"/>
                <a:ea typeface="Calibri" pitchFamily="34" charset="-122"/>
                <a:cs typeface="Calibri" pitchFamily="34" charset="-120"/>
              </a:rPr>
              <a:t>Each KPI card surfaces a single headline number, refreshed instantly as filters change.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047432"/>
            <a:ext cx="11064240" cy="685800"/>
          </a:xfrm>
          <a:prstGeom prst="rect">
            <a:avLst/>
          </a:prstGeom>
          <a:noFill/>
          <a:ln/>
        </p:spPr>
        <p:txBody>
          <a:bodyPr wrap="square" lIns="0" tIns="0" rIns="0" bIns="0" rtlCol="0" anchor="ctr"/>
          <a:lstStyle/>
          <a:p>
            <a:pPr marL="0" indent="0">
              <a:buNone/>
            </a:pPr>
            <a:r>
              <a:rPr lang="en-US" sz="3400" b="1" dirty="0">
                <a:solidFill>
                  <a:srgbClr val="1A2B6D"/>
                </a:solidFill>
                <a:latin typeface="Cambria" pitchFamily="34" charset="0"/>
                <a:ea typeface="Cambria" pitchFamily="34" charset="-122"/>
                <a:cs typeface="Cambria" pitchFamily="34" charset="-120"/>
              </a:rPr>
              <a:t>Dashboard Features: Map &amp; Bar Charts</a:t>
            </a:r>
            <a:endParaRPr lang="en-US" sz="3400" dirty="0"/>
          </a:p>
        </p:txBody>
      </p:sp>
      <p:sp>
        <p:nvSpPr>
          <p:cNvPr id="3" name="Text 1"/>
          <p:cNvSpPr/>
          <p:nvPr/>
        </p:nvSpPr>
        <p:spPr>
          <a:xfrm>
            <a:off x="548640" y="1687512"/>
            <a:ext cx="11064240" cy="36576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Geographic and comparative views of funding activity</a:t>
            </a:r>
            <a:endParaRPr lang="en-US" sz="1500" dirty="0"/>
          </a:p>
        </p:txBody>
      </p:sp>
      <p:sp>
        <p:nvSpPr>
          <p:cNvPr id="4" name="Shape 2"/>
          <p:cNvSpPr/>
          <p:nvPr/>
        </p:nvSpPr>
        <p:spPr>
          <a:xfrm>
            <a:off x="548640" y="2492184"/>
            <a:ext cx="5349240" cy="3840480"/>
          </a:xfrm>
          <a:prstGeom prst="roundRect">
            <a:avLst>
              <a:gd name="adj" fmla="val 1905"/>
            </a:avLst>
          </a:prstGeom>
          <a:solidFill>
            <a:srgbClr val="EAF0FB"/>
          </a:solidFill>
          <a:ln/>
          <a:effectLst>
            <a:outerShdw blurRad="101600" dist="25400" dir="5400000" algn="bl" rotWithShape="0">
              <a:srgbClr val="000000">
                <a:alpha val="12000"/>
              </a:srgbClr>
            </a:outerShdw>
          </a:effectLst>
        </p:spPr>
      </p:sp>
      <p:sp>
        <p:nvSpPr>
          <p:cNvPr id="5" name="Shape 3"/>
          <p:cNvSpPr/>
          <p:nvPr/>
        </p:nvSpPr>
        <p:spPr>
          <a:xfrm>
            <a:off x="868680" y="2812224"/>
            <a:ext cx="502920" cy="502920"/>
          </a:xfrm>
          <a:prstGeom prst="ellipse">
            <a:avLst/>
          </a:prstGeom>
          <a:solidFill>
            <a:srgbClr val="1A2B6D"/>
          </a:solidFill>
          <a:ln/>
        </p:spPr>
      </p:sp>
      <p:sp>
        <p:nvSpPr>
          <p:cNvPr id="6" name="Text 4"/>
          <p:cNvSpPr/>
          <p:nvPr/>
        </p:nvSpPr>
        <p:spPr>
          <a:xfrm>
            <a:off x="868680" y="2812224"/>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M</a:t>
            </a:r>
            <a:endParaRPr lang="en-US" sz="1800" dirty="0"/>
          </a:p>
        </p:txBody>
      </p:sp>
      <p:sp>
        <p:nvSpPr>
          <p:cNvPr id="7" name="Text 5"/>
          <p:cNvSpPr/>
          <p:nvPr/>
        </p:nvSpPr>
        <p:spPr>
          <a:xfrm>
            <a:off x="868680" y="3452304"/>
            <a:ext cx="4709160" cy="411480"/>
          </a:xfrm>
          <a:prstGeom prst="rect">
            <a:avLst/>
          </a:prstGeom>
          <a:noFill/>
          <a:ln/>
        </p:spPr>
        <p:txBody>
          <a:bodyPr wrap="square" lIns="0" tIns="0" rIns="0" bIns="0" rtlCol="0" anchor="ctr"/>
          <a:lstStyle/>
          <a:p>
            <a:pPr marL="0" indent="0">
              <a:buNone/>
            </a:pPr>
            <a:r>
              <a:rPr lang="en-US" sz="1800" b="1" dirty="0">
                <a:solidFill>
                  <a:srgbClr val="1A2B6D"/>
                </a:solidFill>
                <a:latin typeface="Cambria" pitchFamily="34" charset="0"/>
                <a:ea typeface="Cambria" pitchFamily="34" charset="-122"/>
                <a:cs typeface="Cambria" pitchFamily="34" charset="-120"/>
              </a:rPr>
              <a:t>Funding by City (Map)</a:t>
            </a:r>
            <a:endParaRPr lang="en-US" sz="1800" dirty="0"/>
          </a:p>
        </p:txBody>
      </p:sp>
      <p:sp>
        <p:nvSpPr>
          <p:cNvPr id="8" name="Text 6"/>
          <p:cNvSpPr/>
          <p:nvPr/>
        </p:nvSpPr>
        <p:spPr>
          <a:xfrm>
            <a:off x="868680" y="3955224"/>
            <a:ext cx="4709160" cy="1371600"/>
          </a:xfrm>
          <a:prstGeom prst="rect">
            <a:avLst/>
          </a:prstGeom>
          <a:noFill/>
          <a:ln/>
        </p:spPr>
        <p:txBody>
          <a:bodyPr wrap="square" lIns="0" tIns="0" rIns="0" bIns="0" rtlCol="0" anchor="ctr"/>
          <a:lstStyle/>
          <a:p>
            <a:pPr marL="0" indent="0">
              <a:lnSpc>
                <a:spcPct val="125000"/>
              </a:lnSpc>
              <a:buNone/>
            </a:pPr>
            <a:r>
              <a:rPr lang="en-US" sz="1350" dirty="0">
                <a:solidFill>
                  <a:srgbClr val="1F2430"/>
                </a:solidFill>
                <a:latin typeface="Calibri" pitchFamily="34" charset="0"/>
                <a:ea typeface="Calibri" pitchFamily="34" charset="-122"/>
                <a:cs typeface="Calibri" pitchFamily="34" charset="-120"/>
              </a:rPr>
              <a:t>Total funding shown geographically across Indian cities — shaded and sized by deal value, with international hubs included for context.</a:t>
            </a:r>
            <a:endParaRPr lang="en-US" sz="1350" dirty="0"/>
          </a:p>
        </p:txBody>
      </p:sp>
      <p:sp>
        <p:nvSpPr>
          <p:cNvPr id="9" name="Shape 7"/>
          <p:cNvSpPr/>
          <p:nvPr/>
        </p:nvSpPr>
        <p:spPr>
          <a:xfrm>
            <a:off x="6172200" y="2492184"/>
            <a:ext cx="5349240" cy="3840480"/>
          </a:xfrm>
          <a:prstGeom prst="roundRect">
            <a:avLst>
              <a:gd name="adj" fmla="val 1905"/>
            </a:avLst>
          </a:prstGeom>
          <a:solidFill>
            <a:srgbClr val="FDECDD"/>
          </a:solidFill>
          <a:ln/>
          <a:effectLst>
            <a:outerShdw blurRad="101600" dist="25400" dir="5400000" algn="bl" rotWithShape="0">
              <a:srgbClr val="000000">
                <a:alpha val="12000"/>
              </a:srgbClr>
            </a:outerShdw>
          </a:effectLst>
        </p:spPr>
      </p:sp>
      <p:sp>
        <p:nvSpPr>
          <p:cNvPr id="10" name="Shape 8"/>
          <p:cNvSpPr/>
          <p:nvPr/>
        </p:nvSpPr>
        <p:spPr>
          <a:xfrm>
            <a:off x="6492240" y="2812224"/>
            <a:ext cx="502920" cy="502920"/>
          </a:xfrm>
          <a:prstGeom prst="ellipse">
            <a:avLst/>
          </a:prstGeom>
          <a:solidFill>
            <a:srgbClr val="D9711A"/>
          </a:solidFill>
          <a:ln/>
        </p:spPr>
      </p:sp>
      <p:sp>
        <p:nvSpPr>
          <p:cNvPr id="11" name="Text 9"/>
          <p:cNvSpPr/>
          <p:nvPr/>
        </p:nvSpPr>
        <p:spPr>
          <a:xfrm>
            <a:off x="6492240" y="2812224"/>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2" name="Text 10"/>
          <p:cNvSpPr/>
          <p:nvPr/>
        </p:nvSpPr>
        <p:spPr>
          <a:xfrm>
            <a:off x="6492240" y="3452304"/>
            <a:ext cx="4709160" cy="411480"/>
          </a:xfrm>
          <a:prstGeom prst="rect">
            <a:avLst/>
          </a:prstGeom>
          <a:noFill/>
          <a:ln/>
        </p:spPr>
        <p:txBody>
          <a:bodyPr wrap="square" lIns="0" tIns="0" rIns="0" bIns="0" rtlCol="0" anchor="ctr"/>
          <a:lstStyle/>
          <a:p>
            <a:pPr marL="0" indent="0">
              <a:buNone/>
            </a:pPr>
            <a:r>
              <a:rPr lang="en-US" sz="1800" b="1" dirty="0">
                <a:solidFill>
                  <a:srgbClr val="B5441A"/>
                </a:solidFill>
                <a:latin typeface="Cambria" pitchFamily="34" charset="0"/>
                <a:ea typeface="Cambria" pitchFamily="34" charset="-122"/>
                <a:cs typeface="Cambria" pitchFamily="34" charset="-120"/>
              </a:rPr>
              <a:t>Funding by Industry (Bar Chart)</a:t>
            </a:r>
            <a:endParaRPr lang="en-US" sz="1800" dirty="0"/>
          </a:p>
        </p:txBody>
      </p:sp>
      <p:sp>
        <p:nvSpPr>
          <p:cNvPr id="13" name="Text 11"/>
          <p:cNvSpPr/>
          <p:nvPr/>
        </p:nvSpPr>
        <p:spPr>
          <a:xfrm>
            <a:off x="6492240" y="3955224"/>
            <a:ext cx="4709160" cy="146304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350" dirty="0">
                <a:solidFill>
                  <a:srgbClr val="1F2430"/>
                </a:solidFill>
                <a:latin typeface="Calibri" pitchFamily="34" charset="0"/>
                <a:ea typeface="Calibri" pitchFamily="34" charset="-122"/>
                <a:cs typeface="Calibri" pitchFamily="34" charset="-120"/>
              </a:rPr>
              <a:t>Total funding compared across 15 industry categories</a:t>
            </a:r>
            <a:endParaRPr lang="en-US" sz="1350" dirty="0"/>
          </a:p>
          <a:p>
            <a:pPr marL="342900" indent="-342900">
              <a:lnSpc>
                <a:spcPct val="120000"/>
              </a:lnSpc>
              <a:spcAft>
                <a:spcPts val="800"/>
              </a:spcAft>
              <a:buSzPct val="100000"/>
              <a:buChar char="▪"/>
            </a:pPr>
            <a:r>
              <a:rPr lang="en-US" sz="1350" dirty="0">
                <a:solidFill>
                  <a:srgbClr val="1F2430"/>
                </a:solidFill>
                <a:latin typeface="Calibri" pitchFamily="34" charset="0"/>
                <a:ea typeface="Calibri" pitchFamily="34" charset="-122"/>
                <a:cs typeface="Calibri" pitchFamily="34" charset="-120"/>
              </a:rPr>
              <a:t>Top investors ranked by total capital contributed</a:t>
            </a:r>
            <a:endParaRPr lang="en-US" sz="1350" dirty="0"/>
          </a:p>
          <a:p>
            <a:pPr marL="342900" indent="-342900">
              <a:lnSpc>
                <a:spcPct val="120000"/>
              </a:lnSpc>
              <a:spcAft>
                <a:spcPts val="800"/>
              </a:spcAft>
              <a:buSzPct val="100000"/>
              <a:buChar char="▪"/>
            </a:pPr>
            <a:r>
              <a:rPr lang="en-US" sz="1350" dirty="0">
                <a:solidFill>
                  <a:srgbClr val="1F2430"/>
                </a:solidFill>
                <a:latin typeface="Calibri" pitchFamily="34" charset="0"/>
                <a:ea typeface="Calibri" pitchFamily="34" charset="-122"/>
                <a:cs typeface="Calibri" pitchFamily="34" charset="-120"/>
              </a:rPr>
              <a:t>Sortable and filterable for quick side-by-side comparison</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035480"/>
            <a:ext cx="11064240" cy="685800"/>
          </a:xfrm>
          <a:prstGeom prst="rect">
            <a:avLst/>
          </a:prstGeom>
          <a:noFill/>
          <a:ln/>
        </p:spPr>
        <p:txBody>
          <a:bodyPr wrap="square" lIns="0" tIns="0" rIns="0" bIns="0" rtlCol="0" anchor="ctr"/>
          <a:lstStyle/>
          <a:p>
            <a:pPr marL="0" indent="0">
              <a:buNone/>
            </a:pPr>
            <a:r>
              <a:rPr lang="en-US" sz="3400" b="1" dirty="0">
                <a:solidFill>
                  <a:srgbClr val="1A2B6D"/>
                </a:solidFill>
                <a:latin typeface="Cambria" pitchFamily="34" charset="0"/>
                <a:ea typeface="Cambria" pitchFamily="34" charset="-122"/>
                <a:cs typeface="Cambria" pitchFamily="34" charset="-120"/>
              </a:rPr>
              <a:t>Dashboard Features: Trend &amp; Treemap</a:t>
            </a:r>
            <a:endParaRPr lang="en-US" sz="3400" dirty="0"/>
          </a:p>
        </p:txBody>
      </p:sp>
      <p:sp>
        <p:nvSpPr>
          <p:cNvPr id="3" name="Text 1"/>
          <p:cNvSpPr/>
          <p:nvPr/>
        </p:nvSpPr>
        <p:spPr>
          <a:xfrm>
            <a:off x="548640" y="1675560"/>
            <a:ext cx="11064240" cy="36576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Time-based and proportional views of funding activity</a:t>
            </a:r>
            <a:endParaRPr lang="en-US" sz="1500" dirty="0"/>
          </a:p>
        </p:txBody>
      </p:sp>
      <p:sp>
        <p:nvSpPr>
          <p:cNvPr id="4" name="Shape 2"/>
          <p:cNvSpPr/>
          <p:nvPr/>
        </p:nvSpPr>
        <p:spPr>
          <a:xfrm>
            <a:off x="548640" y="2480232"/>
            <a:ext cx="5349240" cy="3840480"/>
          </a:xfrm>
          <a:prstGeom prst="roundRect">
            <a:avLst>
              <a:gd name="adj" fmla="val 1905"/>
            </a:avLst>
          </a:prstGeom>
          <a:solidFill>
            <a:srgbClr val="FDECDD"/>
          </a:solidFill>
          <a:ln/>
          <a:effectLst>
            <a:outerShdw blurRad="101600" dist="25400" dir="5400000" algn="bl" rotWithShape="0">
              <a:srgbClr val="000000">
                <a:alpha val="12000"/>
              </a:srgbClr>
            </a:outerShdw>
          </a:effectLst>
        </p:spPr>
      </p:sp>
      <p:sp>
        <p:nvSpPr>
          <p:cNvPr id="5" name="Shape 3"/>
          <p:cNvSpPr/>
          <p:nvPr/>
        </p:nvSpPr>
        <p:spPr>
          <a:xfrm>
            <a:off x="868680" y="2800272"/>
            <a:ext cx="502920" cy="502920"/>
          </a:xfrm>
          <a:prstGeom prst="ellipse">
            <a:avLst/>
          </a:prstGeom>
          <a:solidFill>
            <a:srgbClr val="D9711A"/>
          </a:solidFill>
          <a:ln/>
        </p:spPr>
      </p:sp>
      <p:sp>
        <p:nvSpPr>
          <p:cNvPr id="6" name="Text 4"/>
          <p:cNvSpPr/>
          <p:nvPr/>
        </p:nvSpPr>
        <p:spPr>
          <a:xfrm>
            <a:off x="868680" y="28002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L</a:t>
            </a:r>
            <a:endParaRPr lang="en-US" sz="1800" dirty="0"/>
          </a:p>
        </p:txBody>
      </p:sp>
      <p:sp>
        <p:nvSpPr>
          <p:cNvPr id="7" name="Text 5"/>
          <p:cNvSpPr/>
          <p:nvPr/>
        </p:nvSpPr>
        <p:spPr>
          <a:xfrm>
            <a:off x="868680" y="3440352"/>
            <a:ext cx="4709160" cy="411480"/>
          </a:xfrm>
          <a:prstGeom prst="rect">
            <a:avLst/>
          </a:prstGeom>
          <a:noFill/>
          <a:ln/>
        </p:spPr>
        <p:txBody>
          <a:bodyPr wrap="square" lIns="0" tIns="0" rIns="0" bIns="0" rtlCol="0" anchor="ctr"/>
          <a:lstStyle/>
          <a:p>
            <a:pPr marL="0" indent="0">
              <a:buNone/>
            </a:pPr>
            <a:r>
              <a:rPr lang="en-US" sz="1800" b="1" dirty="0">
                <a:solidFill>
                  <a:srgbClr val="B5441A"/>
                </a:solidFill>
                <a:latin typeface="Cambria" pitchFamily="34" charset="0"/>
                <a:ea typeface="Cambria" pitchFamily="34" charset="-122"/>
                <a:cs typeface="Cambria" pitchFamily="34" charset="-120"/>
              </a:rPr>
              <a:t>Funding Trend by Year (Line Chart)</a:t>
            </a:r>
            <a:endParaRPr lang="en-US" sz="1800" dirty="0"/>
          </a:p>
        </p:txBody>
      </p:sp>
      <p:sp>
        <p:nvSpPr>
          <p:cNvPr id="8" name="Text 6"/>
          <p:cNvSpPr/>
          <p:nvPr/>
        </p:nvSpPr>
        <p:spPr>
          <a:xfrm>
            <a:off x="868680" y="3943272"/>
            <a:ext cx="4709160" cy="1463040"/>
          </a:xfrm>
          <a:prstGeom prst="rect">
            <a:avLst/>
          </a:prstGeom>
          <a:noFill/>
          <a:ln/>
        </p:spPr>
        <p:txBody>
          <a:bodyPr wrap="square" lIns="0" tIns="0" rIns="0" bIns="0" rtlCol="0" anchor="ctr"/>
          <a:lstStyle/>
          <a:p>
            <a:pPr marL="0" indent="0">
              <a:lnSpc>
                <a:spcPct val="125000"/>
              </a:lnSpc>
              <a:buNone/>
            </a:pPr>
            <a:r>
              <a:rPr lang="en-US" sz="1350" dirty="0">
                <a:solidFill>
                  <a:srgbClr val="1F2430"/>
                </a:solidFill>
                <a:latin typeface="Calibri" pitchFamily="34" charset="0"/>
                <a:ea typeface="Calibri" pitchFamily="34" charset="-122"/>
                <a:cs typeface="Calibri" pitchFamily="34" charset="-120"/>
              </a:rPr>
              <a:t>Total funding tracked from 2015 to 2020, highlighting the 2017 peak driven by large late-stage rounds and the effect of incomplete 2020 data.</a:t>
            </a:r>
            <a:endParaRPr lang="en-US" sz="1350" dirty="0"/>
          </a:p>
        </p:txBody>
      </p:sp>
      <p:sp>
        <p:nvSpPr>
          <p:cNvPr id="9" name="Shape 7"/>
          <p:cNvSpPr/>
          <p:nvPr/>
        </p:nvSpPr>
        <p:spPr>
          <a:xfrm>
            <a:off x="6172200" y="2480232"/>
            <a:ext cx="5349240" cy="3840480"/>
          </a:xfrm>
          <a:prstGeom prst="roundRect">
            <a:avLst>
              <a:gd name="adj" fmla="val 1905"/>
            </a:avLst>
          </a:prstGeom>
          <a:solidFill>
            <a:srgbClr val="EAF0FB"/>
          </a:solidFill>
          <a:ln/>
          <a:effectLst>
            <a:outerShdw blurRad="101600" dist="25400" dir="5400000" algn="bl" rotWithShape="0">
              <a:srgbClr val="000000">
                <a:alpha val="12000"/>
              </a:srgbClr>
            </a:outerShdw>
          </a:effectLst>
        </p:spPr>
      </p:sp>
      <p:sp>
        <p:nvSpPr>
          <p:cNvPr id="10" name="Shape 8"/>
          <p:cNvSpPr/>
          <p:nvPr/>
        </p:nvSpPr>
        <p:spPr>
          <a:xfrm>
            <a:off x="6492240" y="2800272"/>
            <a:ext cx="502920" cy="502920"/>
          </a:xfrm>
          <a:prstGeom prst="ellipse">
            <a:avLst/>
          </a:prstGeom>
          <a:solidFill>
            <a:srgbClr val="1A2B6D"/>
          </a:solidFill>
          <a:ln/>
        </p:spPr>
      </p:sp>
      <p:sp>
        <p:nvSpPr>
          <p:cNvPr id="11" name="Text 9"/>
          <p:cNvSpPr/>
          <p:nvPr/>
        </p:nvSpPr>
        <p:spPr>
          <a:xfrm>
            <a:off x="6492240" y="28002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T</a:t>
            </a:r>
            <a:endParaRPr lang="en-US" sz="1800" dirty="0"/>
          </a:p>
        </p:txBody>
      </p:sp>
      <p:sp>
        <p:nvSpPr>
          <p:cNvPr id="12" name="Text 10"/>
          <p:cNvSpPr/>
          <p:nvPr/>
        </p:nvSpPr>
        <p:spPr>
          <a:xfrm>
            <a:off x="6492240" y="3440352"/>
            <a:ext cx="4709160" cy="411480"/>
          </a:xfrm>
          <a:prstGeom prst="rect">
            <a:avLst/>
          </a:prstGeom>
          <a:noFill/>
          <a:ln/>
        </p:spPr>
        <p:txBody>
          <a:bodyPr wrap="square" lIns="0" tIns="0" rIns="0" bIns="0" rtlCol="0" anchor="ctr"/>
          <a:lstStyle/>
          <a:p>
            <a:pPr marL="0" indent="0">
              <a:buNone/>
            </a:pPr>
            <a:r>
              <a:rPr lang="en-US" sz="1800" b="1" dirty="0">
                <a:solidFill>
                  <a:srgbClr val="1A2B6D"/>
                </a:solidFill>
                <a:latin typeface="Cambria" pitchFamily="34" charset="0"/>
                <a:ea typeface="Cambria" pitchFamily="34" charset="-122"/>
                <a:cs typeface="Cambria" pitchFamily="34" charset="-120"/>
              </a:rPr>
              <a:t>Startup Share by Industry (Treemap)</a:t>
            </a:r>
            <a:endParaRPr lang="en-US" sz="1800" dirty="0"/>
          </a:p>
        </p:txBody>
      </p:sp>
      <p:sp>
        <p:nvSpPr>
          <p:cNvPr id="13" name="Text 11"/>
          <p:cNvSpPr/>
          <p:nvPr/>
        </p:nvSpPr>
        <p:spPr>
          <a:xfrm>
            <a:off x="6492240" y="3943272"/>
            <a:ext cx="4709160" cy="1463040"/>
          </a:xfrm>
          <a:prstGeom prst="rect">
            <a:avLst/>
          </a:prstGeom>
          <a:noFill/>
          <a:ln/>
        </p:spPr>
        <p:txBody>
          <a:bodyPr wrap="square" lIns="0" tIns="0" rIns="0" bIns="0" rtlCol="0" anchor="ctr"/>
          <a:lstStyle/>
          <a:p>
            <a:pPr marL="0" indent="0">
              <a:lnSpc>
                <a:spcPct val="125000"/>
              </a:lnSpc>
              <a:buNone/>
            </a:pPr>
            <a:r>
              <a:rPr lang="en-US" sz="1350" dirty="0">
                <a:solidFill>
                  <a:srgbClr val="1F2430"/>
                </a:solidFill>
                <a:latin typeface="Calibri" pitchFamily="34" charset="0"/>
                <a:ea typeface="Calibri" pitchFamily="34" charset="-122"/>
                <a:cs typeface="Calibri" pitchFamily="34" charset="-120"/>
              </a:rPr>
              <a:t>A proportional view of how total funding is distributed across industry categories, making the biggest sectors visually obvious at a glance.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760558"/>
            <a:ext cx="11064240" cy="685800"/>
          </a:xfrm>
          <a:prstGeom prst="rect">
            <a:avLst/>
          </a:prstGeom>
          <a:noFill/>
          <a:ln/>
        </p:spPr>
        <p:txBody>
          <a:bodyPr wrap="square" lIns="0" tIns="0" rIns="0" bIns="0" rtlCol="0" anchor="ctr"/>
          <a:lstStyle/>
          <a:p>
            <a:pPr marL="0" indent="0">
              <a:buNone/>
            </a:pPr>
            <a:r>
              <a:rPr lang="en-US" sz="3400" b="1" dirty="0">
                <a:solidFill>
                  <a:srgbClr val="1A2B6D"/>
                </a:solidFill>
                <a:latin typeface="Cambria" pitchFamily="34" charset="0"/>
                <a:ea typeface="Cambria" pitchFamily="34" charset="-122"/>
                <a:cs typeface="Cambria" pitchFamily="34" charset="-120"/>
              </a:rPr>
              <a:t>Key Insights</a:t>
            </a:r>
            <a:endParaRPr lang="en-US" sz="3400" dirty="0"/>
          </a:p>
        </p:txBody>
      </p:sp>
      <p:sp>
        <p:nvSpPr>
          <p:cNvPr id="3" name="Text 1"/>
          <p:cNvSpPr/>
          <p:nvPr/>
        </p:nvSpPr>
        <p:spPr>
          <a:xfrm>
            <a:off x="548640" y="1400638"/>
            <a:ext cx="11064240" cy="36576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What the dashboard reveals about India's startup funding landscape</a:t>
            </a:r>
            <a:endParaRPr lang="en-US" sz="1500" dirty="0"/>
          </a:p>
        </p:txBody>
      </p:sp>
      <p:sp>
        <p:nvSpPr>
          <p:cNvPr id="4" name="Shape 2"/>
          <p:cNvSpPr/>
          <p:nvPr/>
        </p:nvSpPr>
        <p:spPr>
          <a:xfrm>
            <a:off x="640080" y="2214454"/>
            <a:ext cx="457200" cy="457200"/>
          </a:xfrm>
          <a:prstGeom prst="ellipse">
            <a:avLst/>
          </a:prstGeom>
          <a:solidFill>
            <a:srgbClr val="1A2B6D"/>
          </a:solidFill>
          <a:ln/>
        </p:spPr>
      </p:sp>
      <p:sp>
        <p:nvSpPr>
          <p:cNvPr id="5" name="Text 3"/>
          <p:cNvSpPr/>
          <p:nvPr/>
        </p:nvSpPr>
        <p:spPr>
          <a:xfrm>
            <a:off x="640080" y="221445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p:nvPr/>
        </p:nvSpPr>
        <p:spPr>
          <a:xfrm>
            <a:off x="1325880" y="2159590"/>
            <a:ext cx="10241280" cy="841248"/>
          </a:xfrm>
          <a:prstGeom prst="rect">
            <a:avLst/>
          </a:prstGeom>
          <a:noFill/>
          <a:ln/>
        </p:spPr>
        <p:txBody>
          <a:bodyPr wrap="square" lIns="0" tIns="0" rIns="0" bIns="0" rtlCol="0" anchor="ctr"/>
          <a:lstStyle/>
          <a:p>
            <a:pPr marL="0" indent="0">
              <a:lnSpc>
                <a:spcPct val="115000"/>
              </a:lnSpc>
              <a:buNone/>
            </a:pPr>
            <a:r>
              <a:rPr lang="en-US" sz="1450" dirty="0">
                <a:solidFill>
                  <a:srgbClr val="1F2430"/>
                </a:solidFill>
                <a:latin typeface="Calibri" pitchFamily="34" charset="0"/>
                <a:ea typeface="Calibri" pitchFamily="34" charset="-122"/>
                <a:cs typeface="Calibri" pitchFamily="34" charset="-120"/>
              </a:rPr>
              <a:t>E-Commerce/Marketplace leads all sectors with ~$11B in funding, followed by Technology/SaaS (~$5B) and FinTech (~$3.7B).</a:t>
            </a:r>
            <a:endParaRPr lang="en-US" sz="1450" dirty="0"/>
          </a:p>
        </p:txBody>
      </p:sp>
      <p:sp>
        <p:nvSpPr>
          <p:cNvPr id="7" name="Shape 5"/>
          <p:cNvSpPr/>
          <p:nvPr/>
        </p:nvSpPr>
        <p:spPr>
          <a:xfrm>
            <a:off x="640080" y="3055702"/>
            <a:ext cx="457200" cy="457200"/>
          </a:xfrm>
          <a:prstGeom prst="ellipse">
            <a:avLst/>
          </a:prstGeom>
          <a:solidFill>
            <a:srgbClr val="F2994A"/>
          </a:solidFill>
          <a:ln/>
        </p:spPr>
      </p:sp>
      <p:sp>
        <p:nvSpPr>
          <p:cNvPr id="8" name="Text 6"/>
          <p:cNvSpPr/>
          <p:nvPr/>
        </p:nvSpPr>
        <p:spPr>
          <a:xfrm>
            <a:off x="640080" y="305570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9" name="Text 7"/>
          <p:cNvSpPr/>
          <p:nvPr/>
        </p:nvSpPr>
        <p:spPr>
          <a:xfrm>
            <a:off x="1325880" y="3000838"/>
            <a:ext cx="10241280" cy="841248"/>
          </a:xfrm>
          <a:prstGeom prst="rect">
            <a:avLst/>
          </a:prstGeom>
          <a:noFill/>
          <a:ln/>
        </p:spPr>
        <p:txBody>
          <a:bodyPr wrap="square" lIns="0" tIns="0" rIns="0" bIns="0" rtlCol="0" anchor="ctr"/>
          <a:lstStyle/>
          <a:p>
            <a:pPr marL="0" indent="0">
              <a:lnSpc>
                <a:spcPct val="115000"/>
              </a:lnSpc>
              <a:buNone/>
            </a:pPr>
            <a:r>
              <a:rPr lang="en-US" sz="1450" dirty="0">
                <a:solidFill>
                  <a:srgbClr val="1F2430"/>
                </a:solidFill>
                <a:latin typeface="Calibri" pitchFamily="34" charset="0"/>
                <a:ea typeface="Calibri" pitchFamily="34" charset="-122"/>
                <a:cs typeface="Calibri" pitchFamily="34" charset="-120"/>
              </a:rPr>
              <a:t>Funding activity is heavily concentrated in a small number of metro hubs — Bengaluru, Mumbai and the Delhi-NCR region.</a:t>
            </a:r>
            <a:endParaRPr lang="en-US" sz="1450" dirty="0"/>
          </a:p>
        </p:txBody>
      </p:sp>
      <p:sp>
        <p:nvSpPr>
          <p:cNvPr id="10" name="Shape 8"/>
          <p:cNvSpPr/>
          <p:nvPr/>
        </p:nvSpPr>
        <p:spPr>
          <a:xfrm>
            <a:off x="640080" y="3896950"/>
            <a:ext cx="457200" cy="457200"/>
          </a:xfrm>
          <a:prstGeom prst="ellipse">
            <a:avLst/>
          </a:prstGeom>
          <a:solidFill>
            <a:srgbClr val="1A2B6D"/>
          </a:solidFill>
          <a:ln/>
        </p:spPr>
      </p:sp>
      <p:sp>
        <p:nvSpPr>
          <p:cNvPr id="11" name="Text 9"/>
          <p:cNvSpPr/>
          <p:nvPr/>
        </p:nvSpPr>
        <p:spPr>
          <a:xfrm>
            <a:off x="640080" y="389695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1325880" y="3842086"/>
            <a:ext cx="10241280" cy="841248"/>
          </a:xfrm>
          <a:prstGeom prst="rect">
            <a:avLst/>
          </a:prstGeom>
          <a:noFill/>
          <a:ln/>
        </p:spPr>
        <p:txBody>
          <a:bodyPr wrap="square" lIns="0" tIns="0" rIns="0" bIns="0" rtlCol="0" anchor="ctr"/>
          <a:lstStyle/>
          <a:p>
            <a:pPr marL="0" indent="0">
              <a:lnSpc>
                <a:spcPct val="115000"/>
              </a:lnSpc>
              <a:buNone/>
            </a:pPr>
            <a:r>
              <a:rPr lang="en-US" sz="1450" dirty="0">
                <a:solidFill>
                  <a:srgbClr val="1F2430"/>
                </a:solidFill>
                <a:latin typeface="Calibri" pitchFamily="34" charset="0"/>
                <a:ea typeface="Calibri" pitchFamily="34" charset="-122"/>
                <a:cs typeface="Calibri" pitchFamily="34" charset="-120"/>
              </a:rPr>
              <a:t>2017 was a peak funding year (~$10.4B), driven by a handful of very large, late-stage rounds rather than broad deal growth.</a:t>
            </a:r>
            <a:endParaRPr lang="en-US" sz="1450" dirty="0"/>
          </a:p>
        </p:txBody>
      </p:sp>
      <p:sp>
        <p:nvSpPr>
          <p:cNvPr id="13" name="Shape 11"/>
          <p:cNvSpPr/>
          <p:nvPr/>
        </p:nvSpPr>
        <p:spPr>
          <a:xfrm>
            <a:off x="640080" y="4738198"/>
            <a:ext cx="457200" cy="457200"/>
          </a:xfrm>
          <a:prstGeom prst="ellipse">
            <a:avLst/>
          </a:prstGeom>
          <a:solidFill>
            <a:srgbClr val="F2994A"/>
          </a:solidFill>
          <a:ln/>
        </p:spPr>
      </p:sp>
      <p:sp>
        <p:nvSpPr>
          <p:cNvPr id="14" name="Text 12"/>
          <p:cNvSpPr/>
          <p:nvPr/>
        </p:nvSpPr>
        <p:spPr>
          <a:xfrm>
            <a:off x="640080" y="473819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1325880" y="4683334"/>
            <a:ext cx="10241280" cy="841248"/>
          </a:xfrm>
          <a:prstGeom prst="rect">
            <a:avLst/>
          </a:prstGeom>
          <a:noFill/>
          <a:ln/>
        </p:spPr>
        <p:txBody>
          <a:bodyPr wrap="square" lIns="0" tIns="0" rIns="0" bIns="0" rtlCol="0" anchor="ctr"/>
          <a:lstStyle/>
          <a:p>
            <a:pPr marL="0" indent="0">
              <a:lnSpc>
                <a:spcPct val="115000"/>
              </a:lnSpc>
              <a:buNone/>
            </a:pPr>
            <a:r>
              <a:rPr lang="en-US" sz="1450" dirty="0">
                <a:solidFill>
                  <a:srgbClr val="1F2430"/>
                </a:solidFill>
                <a:latin typeface="Calibri" pitchFamily="34" charset="0"/>
                <a:ea typeface="Calibri" pitchFamily="34" charset="-122"/>
                <a:cs typeface="Calibri" pitchFamily="34" charset="-120"/>
              </a:rPr>
              <a:t>Softbank and SoftBank Group are the two most prominent investors by capital deployed in this period.</a:t>
            </a:r>
            <a:endParaRPr lang="en-US" sz="1450" dirty="0"/>
          </a:p>
        </p:txBody>
      </p:sp>
      <p:sp>
        <p:nvSpPr>
          <p:cNvPr id="16" name="Shape 14"/>
          <p:cNvSpPr/>
          <p:nvPr/>
        </p:nvSpPr>
        <p:spPr>
          <a:xfrm>
            <a:off x="640080" y="5579446"/>
            <a:ext cx="457200" cy="457200"/>
          </a:xfrm>
          <a:prstGeom prst="ellipse">
            <a:avLst/>
          </a:prstGeom>
          <a:solidFill>
            <a:srgbClr val="1A2B6D"/>
          </a:solidFill>
          <a:ln/>
        </p:spPr>
      </p:sp>
      <p:sp>
        <p:nvSpPr>
          <p:cNvPr id="17" name="Text 15"/>
          <p:cNvSpPr/>
          <p:nvPr/>
        </p:nvSpPr>
        <p:spPr>
          <a:xfrm>
            <a:off x="640080" y="557944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1325880" y="5524582"/>
            <a:ext cx="10241280" cy="841248"/>
          </a:xfrm>
          <a:prstGeom prst="rect">
            <a:avLst/>
          </a:prstGeom>
          <a:noFill/>
          <a:ln/>
        </p:spPr>
        <p:txBody>
          <a:bodyPr wrap="square" lIns="0" tIns="0" rIns="0" bIns="0" rtlCol="0" anchor="ctr"/>
          <a:lstStyle/>
          <a:p>
            <a:pPr marL="0" indent="0">
              <a:lnSpc>
                <a:spcPct val="115000"/>
              </a:lnSpc>
              <a:buNone/>
            </a:pPr>
            <a:r>
              <a:rPr lang="en-US" sz="1450" dirty="0">
                <a:solidFill>
                  <a:srgbClr val="1F2430"/>
                </a:solidFill>
                <a:latin typeface="Calibri" pitchFamily="34" charset="0"/>
                <a:ea typeface="Calibri" pitchFamily="34" charset="-122"/>
                <a:cs typeface="Calibri" pitchFamily="34" charset="-120"/>
              </a:rPr>
              <a:t>The apparent 2020 decline reflects incomplete data coverage for that year, not an actual funding downturn.</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844231"/>
            <a:ext cx="11064240" cy="685800"/>
          </a:xfrm>
          <a:prstGeom prst="rect">
            <a:avLst/>
          </a:prstGeom>
          <a:noFill/>
          <a:ln/>
        </p:spPr>
        <p:txBody>
          <a:bodyPr wrap="square" lIns="0" tIns="0" rIns="0" bIns="0" rtlCol="0" anchor="ctr"/>
          <a:lstStyle/>
          <a:p>
            <a:pPr marL="0" indent="0">
              <a:buNone/>
            </a:pPr>
            <a:r>
              <a:rPr lang="en-US" sz="3400" b="1" dirty="0">
                <a:solidFill>
                  <a:srgbClr val="1A2B6D"/>
                </a:solidFill>
                <a:latin typeface="Cambria" pitchFamily="34" charset="0"/>
                <a:ea typeface="Cambria" pitchFamily="34" charset="-122"/>
                <a:cs typeface="Cambria" pitchFamily="34" charset="-120"/>
              </a:rPr>
              <a:t>Expected Outcomes &amp; Conclusion</a:t>
            </a:r>
            <a:endParaRPr lang="en-US" sz="3400" dirty="0"/>
          </a:p>
        </p:txBody>
      </p:sp>
      <p:sp>
        <p:nvSpPr>
          <p:cNvPr id="3" name="Text 1"/>
          <p:cNvSpPr/>
          <p:nvPr/>
        </p:nvSpPr>
        <p:spPr>
          <a:xfrm>
            <a:off x="548640" y="1484311"/>
            <a:ext cx="11064240" cy="36576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What this project delivers</a:t>
            </a:r>
            <a:endParaRPr lang="en-US" sz="1500" dirty="0"/>
          </a:p>
        </p:txBody>
      </p:sp>
      <p:sp>
        <p:nvSpPr>
          <p:cNvPr id="4" name="Text 2"/>
          <p:cNvSpPr/>
          <p:nvPr/>
        </p:nvSpPr>
        <p:spPr>
          <a:xfrm>
            <a:off x="548640" y="2288983"/>
            <a:ext cx="11064240" cy="2194560"/>
          </a:xfrm>
          <a:prstGeom prst="rect">
            <a:avLst/>
          </a:prstGeom>
          <a:noFill/>
          <a:ln/>
        </p:spPr>
        <p:txBody>
          <a:bodyPr wrap="square" lIns="0" tIns="0" rIns="0" bIns="0" rtlCol="0" anchor="ctr"/>
          <a:lstStyle/>
          <a:p>
            <a:pPr marL="342900" indent="-342900">
              <a:lnSpc>
                <a:spcPct val="120000"/>
              </a:lnSpc>
              <a:spcAft>
                <a:spcPts val="1200"/>
              </a:spcAft>
              <a:buSzPct val="100000"/>
              <a:buChar char="▪"/>
            </a:pPr>
            <a:r>
              <a:rPr lang="en-US" sz="1550" dirty="0">
                <a:solidFill>
                  <a:srgbClr val="1F2430"/>
                </a:solidFill>
                <a:latin typeface="Calibri" pitchFamily="34" charset="0"/>
                <a:ea typeface="Calibri" pitchFamily="34" charset="-122"/>
                <a:cs typeface="Calibri" pitchFamily="34" charset="-120"/>
              </a:rPr>
              <a:t>Simplifies interpretation of complex, unstructured startup funding data for a general audience</a:t>
            </a:r>
            <a:endParaRPr lang="en-US" sz="1550" dirty="0"/>
          </a:p>
          <a:p>
            <a:pPr marL="342900" indent="-342900">
              <a:lnSpc>
                <a:spcPct val="120000"/>
              </a:lnSpc>
              <a:spcAft>
                <a:spcPts val="1200"/>
              </a:spcAft>
              <a:buSzPct val="100000"/>
              <a:buChar char="▪"/>
            </a:pPr>
            <a:r>
              <a:rPr lang="en-US" sz="1550" dirty="0">
                <a:solidFill>
                  <a:srgbClr val="1F2430"/>
                </a:solidFill>
                <a:latin typeface="Calibri" pitchFamily="34" charset="0"/>
                <a:ea typeface="Calibri" pitchFamily="34" charset="-122"/>
                <a:cs typeface="Calibri" pitchFamily="34" charset="-120"/>
              </a:rPr>
              <a:t>Enables meaningful comparisons of funding activity across Indian cities and industries</a:t>
            </a:r>
            <a:endParaRPr lang="en-US" sz="1550" dirty="0"/>
          </a:p>
          <a:p>
            <a:pPr marL="342900" indent="-342900">
              <a:lnSpc>
                <a:spcPct val="120000"/>
              </a:lnSpc>
              <a:spcAft>
                <a:spcPts val="1200"/>
              </a:spcAft>
              <a:buSzPct val="100000"/>
              <a:buChar char="▪"/>
            </a:pPr>
            <a:r>
              <a:rPr lang="en-US" sz="1550" dirty="0">
                <a:solidFill>
                  <a:srgbClr val="1F2430"/>
                </a:solidFill>
                <a:latin typeface="Calibri" pitchFamily="34" charset="0"/>
                <a:ea typeface="Calibri" pitchFamily="34" charset="-122"/>
                <a:cs typeface="Calibri" pitchFamily="34" charset="-120"/>
              </a:rPr>
              <a:t>Supports investor research, academic study and startup ecosystem policy planning</a:t>
            </a:r>
            <a:endParaRPr lang="en-US" sz="1550" dirty="0"/>
          </a:p>
          <a:p>
            <a:pPr marL="342900" indent="-342900">
              <a:lnSpc>
                <a:spcPct val="120000"/>
              </a:lnSpc>
              <a:spcAft>
                <a:spcPts val="1200"/>
              </a:spcAft>
              <a:buSzPct val="100000"/>
              <a:buChar char="▪"/>
            </a:pPr>
            <a:r>
              <a:rPr lang="en-US" sz="1550" dirty="0">
                <a:solidFill>
                  <a:srgbClr val="1F2430"/>
                </a:solidFill>
                <a:latin typeface="Calibri" pitchFamily="34" charset="0"/>
                <a:ea typeface="Calibri" pitchFamily="34" charset="-122"/>
                <a:cs typeface="Calibri" pitchFamily="34" charset="-120"/>
              </a:rPr>
              <a:t>Demonstrates practical application of data cleaning, BI and visualization techniques on a real, messy dataset</a:t>
            </a:r>
            <a:endParaRPr lang="en-US" sz="1550" dirty="0"/>
          </a:p>
        </p:txBody>
      </p:sp>
      <p:sp>
        <p:nvSpPr>
          <p:cNvPr id="5" name="Shape 3"/>
          <p:cNvSpPr/>
          <p:nvPr/>
        </p:nvSpPr>
        <p:spPr>
          <a:xfrm>
            <a:off x="548640" y="4712143"/>
            <a:ext cx="11064240" cy="1737360"/>
          </a:xfrm>
          <a:prstGeom prst="roundRect">
            <a:avLst>
              <a:gd name="adj" fmla="val 4211"/>
            </a:avLst>
          </a:prstGeom>
          <a:solidFill>
            <a:srgbClr val="EAF0FB"/>
          </a:solidFill>
          <a:ln/>
          <a:effectLst>
            <a:outerShdw blurRad="101600" dist="25400" dir="5400000" algn="bl" rotWithShape="0">
              <a:srgbClr val="000000">
                <a:alpha val="12000"/>
              </a:srgbClr>
            </a:outerShdw>
          </a:effectLst>
        </p:spPr>
      </p:sp>
      <p:sp>
        <p:nvSpPr>
          <p:cNvPr id="6" name="Text 4"/>
          <p:cNvSpPr/>
          <p:nvPr/>
        </p:nvSpPr>
        <p:spPr>
          <a:xfrm>
            <a:off x="914400" y="4712143"/>
            <a:ext cx="10332720" cy="1737360"/>
          </a:xfrm>
          <a:prstGeom prst="rect">
            <a:avLst/>
          </a:prstGeom>
          <a:noFill/>
          <a:ln/>
        </p:spPr>
        <p:txBody>
          <a:bodyPr wrap="square" lIns="0" tIns="0" rIns="0" bIns="0" rtlCol="0" anchor="ctr"/>
          <a:lstStyle/>
          <a:p>
            <a:pPr marL="0" indent="0">
              <a:lnSpc>
                <a:spcPct val="130000"/>
              </a:lnSpc>
              <a:buNone/>
            </a:pPr>
            <a:r>
              <a:rPr lang="en-US" sz="1500" i="1" dirty="0">
                <a:solidFill>
                  <a:srgbClr val="1A2B6D"/>
                </a:solidFill>
                <a:latin typeface="Calibri" pitchFamily="34" charset="0"/>
                <a:ea typeface="Calibri" pitchFamily="34" charset="-122"/>
                <a:cs typeface="Calibri" pitchFamily="34" charset="-120"/>
              </a:rPr>
              <a:t>The Funding Flow Insights dashboard transforms raw, unstructured startup funding records into an interactive decision-support tool — enabling users to explore India's startup investment landscape efficiently while promoting evidence-based analysis for entrepreneurial, investment and policy-related purposes.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35054"/>
            <a:ext cx="11064240" cy="685800"/>
          </a:xfrm>
          <a:prstGeom prst="rect">
            <a:avLst/>
          </a:prstGeom>
          <a:noFill/>
          <a:ln/>
        </p:spPr>
        <p:txBody>
          <a:bodyPr wrap="square" lIns="0" tIns="0" rIns="0" bIns="0" rtlCol="0" anchor="ctr"/>
          <a:lstStyle/>
          <a:p>
            <a:pPr marL="0" indent="0">
              <a:buNone/>
            </a:pPr>
            <a:r>
              <a:rPr lang="en-US" sz="3400" b="1" dirty="0">
                <a:solidFill>
                  <a:srgbClr val="1A2B6D"/>
                </a:solidFill>
                <a:latin typeface="Cambria" pitchFamily="34" charset="0"/>
                <a:ea typeface="Cambria" pitchFamily="34" charset="-122"/>
                <a:cs typeface="Cambria" pitchFamily="34" charset="-120"/>
              </a:rPr>
              <a:t>Live Dashboard Demonstration</a:t>
            </a:r>
            <a:endParaRPr lang="en-US" sz="3400" dirty="0"/>
          </a:p>
        </p:txBody>
      </p:sp>
      <p:sp>
        <p:nvSpPr>
          <p:cNvPr id="3" name="Text 1"/>
          <p:cNvSpPr/>
          <p:nvPr/>
        </p:nvSpPr>
        <p:spPr>
          <a:xfrm>
            <a:off x="548640" y="1275134"/>
            <a:ext cx="11064240" cy="36576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Explore the full interactive dashboard on Tableau Public</a:t>
            </a:r>
            <a:endParaRPr lang="en-US" sz="1500" dirty="0"/>
          </a:p>
        </p:txBody>
      </p:sp>
      <p:sp>
        <p:nvSpPr>
          <p:cNvPr id="4" name="Shape 2"/>
          <p:cNvSpPr/>
          <p:nvPr/>
        </p:nvSpPr>
        <p:spPr>
          <a:xfrm>
            <a:off x="548640" y="2262686"/>
            <a:ext cx="548640" cy="548640"/>
          </a:xfrm>
          <a:prstGeom prst="ellipse">
            <a:avLst/>
          </a:prstGeom>
          <a:solidFill>
            <a:srgbClr val="1A2B6D"/>
          </a:solidFill>
          <a:ln/>
        </p:spPr>
      </p:sp>
      <p:sp>
        <p:nvSpPr>
          <p:cNvPr id="5" name="Text 3"/>
          <p:cNvSpPr/>
          <p:nvPr/>
        </p:nvSpPr>
        <p:spPr>
          <a:xfrm>
            <a:off x="548640" y="2262686"/>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a:t>
            </a:r>
            <a:endParaRPr lang="en-US" sz="2000" dirty="0"/>
          </a:p>
        </p:txBody>
      </p:sp>
      <p:sp>
        <p:nvSpPr>
          <p:cNvPr id="6" name="Text 4"/>
          <p:cNvSpPr/>
          <p:nvPr/>
        </p:nvSpPr>
        <p:spPr>
          <a:xfrm>
            <a:off x="1206052" y="2308126"/>
            <a:ext cx="3749040" cy="457200"/>
          </a:xfrm>
          <a:prstGeom prst="rect">
            <a:avLst/>
          </a:prstGeom>
          <a:noFill/>
          <a:ln/>
        </p:spPr>
        <p:txBody>
          <a:bodyPr wrap="square" lIns="0" tIns="0" rIns="0" bIns="0" rtlCol="0" anchor="ctr"/>
          <a:lstStyle/>
          <a:p>
            <a:pPr marL="0" indent="0">
              <a:buNone/>
            </a:pPr>
            <a:r>
              <a:rPr lang="en-US" sz="2000" b="1" dirty="0">
                <a:solidFill>
                  <a:srgbClr val="1A2B6D"/>
                </a:solidFill>
                <a:latin typeface="Cambria" pitchFamily="34" charset="0"/>
                <a:ea typeface="Cambria" pitchFamily="34" charset="-122"/>
                <a:cs typeface="Cambria" pitchFamily="34" charset="-120"/>
              </a:rPr>
              <a:t>Link</a:t>
            </a:r>
            <a:endParaRPr lang="en-US" sz="2000" dirty="0"/>
          </a:p>
        </p:txBody>
      </p:sp>
      <p:sp>
        <p:nvSpPr>
          <p:cNvPr id="7" name="Text 5"/>
          <p:cNvSpPr/>
          <p:nvPr/>
        </p:nvSpPr>
        <p:spPr>
          <a:xfrm>
            <a:off x="548640" y="2903363"/>
            <a:ext cx="3749040" cy="1463040"/>
          </a:xfrm>
          <a:prstGeom prst="rect">
            <a:avLst/>
          </a:prstGeom>
          <a:noFill/>
          <a:ln/>
        </p:spPr>
        <p:txBody>
          <a:bodyPr wrap="square" lIns="0" tIns="0" rIns="0" bIns="0" rtlCol="0" anchor="ctr"/>
          <a:lstStyle/>
          <a:p>
            <a:pPr>
              <a:lnSpc>
                <a:spcPct val="130000"/>
              </a:lnSpc>
            </a:pPr>
            <a:r>
              <a:rPr lang="en-US" sz="1300" dirty="0">
                <a:solidFill>
                  <a:schemeClr val="bg1"/>
                </a:solidFill>
                <a:hlinkClick r:id="rId3"/>
              </a:rPr>
              <a:t>https://public.tableau.com/views/Indian_Startup_Funding_Dashboard/Dashboard2?:language=en-US&amp;:sid=&amp;:redirect=auth&amp;:display_count=n&amp;:origin=viz_share_link</a:t>
            </a:r>
            <a:r>
              <a:rPr lang="en-US" sz="1300" dirty="0">
                <a:solidFill>
                  <a:schemeClr val="bg1"/>
                </a:solidFill>
              </a:rPr>
              <a:t> </a:t>
            </a:r>
          </a:p>
        </p:txBody>
      </p:sp>
      <p:sp>
        <p:nvSpPr>
          <p:cNvPr id="8" name="Shape 6"/>
          <p:cNvSpPr/>
          <p:nvPr/>
        </p:nvSpPr>
        <p:spPr>
          <a:xfrm>
            <a:off x="4526280" y="1596929"/>
            <a:ext cx="7461504" cy="5099783"/>
          </a:xfrm>
          <a:prstGeom prst="roundRect">
            <a:avLst>
              <a:gd name="adj" fmla="val 717"/>
            </a:avLst>
          </a:prstGeom>
          <a:solidFill>
            <a:srgbClr val="FFFFFF"/>
          </a:solidFill>
          <a:ln w="12700">
            <a:solidFill>
              <a:srgbClr val="E2E5F0"/>
            </a:solidFill>
            <a:prstDash val="solid"/>
          </a:ln>
          <a:effectLst>
            <a:outerShdw blurRad="127000" dist="38100" dir="5400000" algn="bl" rotWithShape="0">
              <a:srgbClr val="000000">
                <a:alpha val="18000"/>
              </a:srgbClr>
            </a:outerShdw>
          </a:effectLst>
        </p:spPr>
      </p:sp>
      <p:pic>
        <p:nvPicPr>
          <p:cNvPr id="9" name="Image 0" descr="/home/claude/ppt/dashboard_screenshot.png"/>
          <p:cNvPicPr>
            <a:picLocks noChangeAspect="1"/>
          </p:cNvPicPr>
          <p:nvPr/>
        </p:nvPicPr>
        <p:blipFill>
          <a:blip r:embed="rId4"/>
          <a:stretch>
            <a:fillRect/>
          </a:stretch>
        </p:blipFill>
        <p:spPr>
          <a:xfrm>
            <a:off x="4526280" y="1670082"/>
            <a:ext cx="7315200" cy="495347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192</TotalTime>
  <Words>1066</Words>
  <Application>Microsoft Office PowerPoint</Application>
  <PresentationFormat>Widescreen</PresentationFormat>
  <Paragraphs>157</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Gowri P</cp:lastModifiedBy>
  <cp:revision>5</cp:revision>
  <dcterms:created xsi:type="dcterms:W3CDTF">2026-07-20T08:10:36Z</dcterms:created>
  <dcterms:modified xsi:type="dcterms:W3CDTF">2026-07-20T11:28:43Z</dcterms:modified>
</cp:coreProperties>
</file>